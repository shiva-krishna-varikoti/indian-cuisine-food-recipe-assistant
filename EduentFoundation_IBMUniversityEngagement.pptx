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61" d="100"/>
          <a:sy n="61" d="100"/>
        </p:scale>
        <p:origin x="10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iddhartha-raj-kotha/Indian-Cuisine-Recipe-Assista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Orchestrate”</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79081648"/>
              </p:ext>
            </p:extLst>
          </p:nvPr>
        </p:nvGraphicFramePr>
        <p:xfrm>
          <a:off x="1299257" y="2600315"/>
          <a:ext cx="9394989" cy="2523478"/>
        </p:xfrm>
        <a:graphic>
          <a:graphicData uri="http://schemas.openxmlformats.org/drawingml/2006/table">
            <a:tbl>
              <a:tblPr>
                <a:noFill/>
                <a:tableStyleId>{0AAD8F4D-43EB-41E5-8A38-28AB6DFB1B60}</a:tableStyleId>
              </a:tblPr>
              <a:tblGrid>
                <a:gridCol w="2312623">
                  <a:extLst>
                    <a:ext uri="{9D8B030D-6E8A-4147-A177-3AD203B41FA5}">
                      <a16:colId xmlns:a16="http://schemas.microsoft.com/office/drawing/2014/main" val="20000"/>
                    </a:ext>
                  </a:extLst>
                </a:gridCol>
                <a:gridCol w="2195618">
                  <a:extLst>
                    <a:ext uri="{9D8B030D-6E8A-4147-A177-3AD203B41FA5}">
                      <a16:colId xmlns:a16="http://schemas.microsoft.com/office/drawing/2014/main" val="20002"/>
                    </a:ext>
                  </a:extLst>
                </a:gridCol>
                <a:gridCol w="2674350">
                  <a:extLst>
                    <a:ext uri="{9D8B030D-6E8A-4147-A177-3AD203B41FA5}">
                      <a16:colId xmlns:a16="http://schemas.microsoft.com/office/drawing/2014/main" val="20003"/>
                    </a:ext>
                  </a:extLst>
                </a:gridCol>
                <a:gridCol w="2212398">
                  <a:extLst>
                    <a:ext uri="{9D8B030D-6E8A-4147-A177-3AD203B41FA5}">
                      <a16:colId xmlns:a16="http://schemas.microsoft.com/office/drawing/2014/main" val="20004"/>
                    </a:ext>
                  </a:extLst>
                </a:gridCol>
              </a:tblGrid>
              <a:tr h="113327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90208">
                <a:tc>
                  <a:txBody>
                    <a:bodyPr/>
                    <a:lstStyle/>
                    <a:p>
                      <a:pPr marL="0" marR="0" lvl="0" indent="0" algn="l" rtl="0">
                        <a:spcBef>
                          <a:spcPts val="0"/>
                        </a:spcBef>
                        <a:spcAft>
                          <a:spcPts val="0"/>
                        </a:spcAft>
                        <a:buNone/>
                      </a:pPr>
                      <a:r>
                        <a:rPr lang="en-US" dirty="0"/>
                        <a:t>KOTHA SIDDHARTHA RAJ</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siddhartharajkotha@gmail.com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7799236362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AI /Food Technology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solidFill>
                  <a:srgbClr val="3A3A3A"/>
                </a:solidFill>
                <a:ea typeface="Calibri" pitchFamily="34" charset="-122"/>
                <a:cs typeface="Calibri" pitchFamily="34" charset="-120"/>
              </a:rPr>
              <a:t>Indian Cuisine Recipe Agent</a:t>
            </a:r>
            <a:endParaRPr lang="en-US" sz="2400" b="1" dirty="0">
              <a:latin typeface="+mn-lt"/>
            </a:endParaRPr>
          </a:p>
        </p:txBody>
      </p:sp>
      <p:pic>
        <p:nvPicPr>
          <p:cNvPr id="3" name="Picture 2">
            <a:extLst>
              <a:ext uri="{FF2B5EF4-FFF2-40B4-BE49-F238E27FC236}">
                <a16:creationId xmlns:a16="http://schemas.microsoft.com/office/drawing/2014/main" id="{F60E0F25-FFB5-F1EF-3BD4-FE2CC318B138}"/>
              </a:ext>
            </a:extLst>
          </p:cNvPr>
          <p:cNvPicPr>
            <a:picLocks noChangeAspect="1"/>
          </p:cNvPicPr>
          <p:nvPr/>
        </p:nvPicPr>
        <p:blipFill>
          <a:blip r:embed="rId3"/>
          <a:stretch>
            <a:fillRect/>
          </a:stretch>
        </p:blipFill>
        <p:spPr>
          <a:xfrm>
            <a:off x="4137605" y="3812970"/>
            <a:ext cx="1128078" cy="12247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278094"/>
          </a:xfrm>
          <a:prstGeom prst="rect">
            <a:avLst/>
          </a:prstGeom>
          <a:noFill/>
        </p:spPr>
        <p:txBody>
          <a:bodyPr wrap="square" rtlCol="0">
            <a:spAutoFit/>
          </a:bodyPr>
          <a:lstStyle/>
          <a:p>
            <a:pPr fontAlgn="base"/>
            <a:r>
              <a:rPr lang="en-US" sz="1600" b="1" dirty="0">
                <a:solidFill>
                  <a:schemeClr val="tx1"/>
                </a:solidFill>
              </a:rPr>
              <a:t>Problem Statement : Indian Cuisine Recipe Agent</a:t>
            </a:r>
            <a:endParaRPr lang="en-US" sz="1600" dirty="0">
              <a:solidFill>
                <a:schemeClr val="tx1"/>
              </a:solidFill>
            </a:endParaRPr>
          </a:p>
          <a:p>
            <a:pPr fontAlgn="base"/>
            <a:endParaRPr lang="en-US" sz="1600" b="1" dirty="0">
              <a:solidFill>
                <a:schemeClr val="tx1"/>
              </a:solidFill>
            </a:endParaRPr>
          </a:p>
          <a:p>
            <a:pPr fontAlgn="base"/>
            <a:r>
              <a:rPr lang="en-US" sz="1600" b="1" dirty="0">
                <a:solidFill>
                  <a:schemeClr val="tx1"/>
                </a:solidFill>
              </a:rPr>
              <a:t>The Challenge</a:t>
            </a:r>
            <a:r>
              <a:rPr lang="en-US" sz="1600" dirty="0">
                <a:solidFill>
                  <a:schemeClr val="tx1"/>
                </a:solidFill>
              </a:rPr>
              <a:t> </a:t>
            </a:r>
          </a:p>
          <a:p>
            <a:pPr fontAlgn="base"/>
            <a:r>
              <a:rPr lang="en-US" sz="1600" dirty="0">
                <a:solidFill>
                  <a:schemeClr val="tx1"/>
                </a:solidFill>
                <a:latin typeface="Arial" panose="020B0604020202020204" pitchFamily="34" charset="0"/>
                <a:ea typeface="Calibri" pitchFamily="34" charset="-122"/>
                <a:cs typeface="Arial" panose="020B0604020202020204" pitchFamily="34" charset="0"/>
              </a:rPr>
              <a:t>Many people want to cook authentic Indian cuisine at home but struggle to find reliable, culturally accurate recipes. Online sources offer inconsistent ingredient measurements and unclear techniques specific to regional Indian cuisine. General AI systems frequently provide unreliable instructions, failing to capture the nuances of Indian cooking methods, spice ratios, and regional variations. A focused assistant using only trusted knowledge is needed.</a:t>
            </a:r>
            <a:endParaRPr lang="en-US" sz="1600" dirty="0">
              <a:solidFill>
                <a:schemeClr val="tx1"/>
              </a:solidFill>
              <a:latin typeface="Arial" panose="020B0604020202020204" pitchFamily="34" charset="0"/>
              <a:cs typeface="Arial" panose="020B0604020202020204" pitchFamily="34" charset="0"/>
            </a:endParaRPr>
          </a:p>
          <a:p>
            <a:pPr fontAlgn="base"/>
            <a:endParaRPr lang="en-US" sz="1600" dirty="0">
              <a:solidFill>
                <a:schemeClr val="tx1"/>
              </a:solidFill>
            </a:endParaRPr>
          </a:p>
          <a:p>
            <a:pPr fontAlgn="base"/>
            <a:r>
              <a:rPr lang="en-US" sz="1600" b="1" dirty="0">
                <a:solidFill>
                  <a:schemeClr val="tx1"/>
                </a:solidFill>
              </a:rPr>
              <a:t>The Objective</a:t>
            </a:r>
            <a:r>
              <a:rPr lang="en-US" sz="1600" dirty="0">
                <a:solidFill>
                  <a:schemeClr val="tx1"/>
                </a:solidFill>
              </a:rPr>
              <a:t> </a:t>
            </a:r>
          </a:p>
          <a:p>
            <a:pPr marL="0" indent="0">
              <a:buNone/>
            </a:pPr>
            <a:r>
              <a:rPr lang="en-US" sz="1600" dirty="0">
                <a:solidFill>
                  <a:schemeClr val="tx1"/>
                </a:solidFill>
                <a:latin typeface="Arial" panose="020B0604020202020204" pitchFamily="34" charset="0"/>
                <a:ea typeface="Calibri" pitchFamily="34" charset="-122"/>
                <a:cs typeface="Arial" panose="020B0604020202020204" pitchFamily="34" charset="0"/>
              </a:rPr>
              <a:t>Build an </a:t>
            </a:r>
            <a:r>
              <a:rPr lang="en-US" sz="1600" b="1" dirty="0">
                <a:solidFill>
                  <a:schemeClr val="tx1"/>
                </a:solidFill>
                <a:latin typeface="Arial" panose="020B0604020202020204" pitchFamily="34" charset="0"/>
                <a:ea typeface="Calibri" pitchFamily="34" charset="-122"/>
                <a:cs typeface="Arial" panose="020B0604020202020204" pitchFamily="34" charset="0"/>
              </a:rPr>
              <a:t>AI-powered</a:t>
            </a:r>
            <a:r>
              <a:rPr lang="en-US" sz="1600" dirty="0">
                <a:solidFill>
                  <a:schemeClr val="tx1"/>
                </a:solidFill>
                <a:latin typeface="Arial" panose="020B0604020202020204" pitchFamily="34" charset="0"/>
                <a:ea typeface="Calibri" pitchFamily="34" charset="-122"/>
                <a:cs typeface="Arial" panose="020B0604020202020204" pitchFamily="34" charset="0"/>
              </a:rPr>
              <a:t> </a:t>
            </a:r>
            <a:r>
              <a:rPr lang="en-US" sz="1600" b="1" dirty="0">
                <a:solidFill>
                  <a:schemeClr val="tx1"/>
                </a:solidFill>
                <a:latin typeface="Arial" panose="020B0604020202020204" pitchFamily="34" charset="0"/>
                <a:ea typeface="Calibri" pitchFamily="34" charset="-122"/>
                <a:cs typeface="Arial" panose="020B0604020202020204" pitchFamily="34" charset="0"/>
              </a:rPr>
              <a:t>Indian Cuisine Recipe Assistant</a:t>
            </a:r>
            <a:r>
              <a:rPr lang="en-US" sz="1600" dirty="0">
                <a:solidFill>
                  <a:schemeClr val="tx1"/>
                </a:solidFill>
                <a:latin typeface="Arial" panose="020B0604020202020204" pitchFamily="34" charset="0"/>
                <a:ea typeface="Calibri" pitchFamily="34" charset="-122"/>
                <a:cs typeface="Arial" panose="020B0604020202020204" pitchFamily="34" charset="0"/>
              </a:rPr>
              <a:t> that helps users prepare authentic Indian dishes. The solution should:</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Provide accurate Indian recipes from a curated trusted knowledge base</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Give beginner-friendly step-by-step cooking instructions</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Support multiple regional Indian cuisines – North Indian, South Indian, Bengali, Gujarati</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Adjust ingredient quantities dynamically based on serving size</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Guide spice level customization (Mild / Medium / Hot)</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Use only knowledge base – No hallucinated or unverified information</a:t>
            </a:r>
            <a:endParaRPr lang="en-US" sz="16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Technology Used </a:t>
            </a:r>
            <a:endParaRPr lang="en-IN" sz="2800" b="1" dirty="0">
              <a:latin typeface="Arial" panose="020B0604020202020204" pitchFamily="34" charset="0"/>
              <a:cs typeface="Arial" panose="020B0604020202020204" pitchFamily="34" charset="0"/>
            </a:endParaRPr>
          </a:p>
        </p:txBody>
      </p:sp>
      <p:sp>
        <p:nvSpPr>
          <p:cNvPr id="41" name="Text 4">
            <a:extLst>
              <a:ext uri="{FF2B5EF4-FFF2-40B4-BE49-F238E27FC236}">
                <a16:creationId xmlns:a16="http://schemas.microsoft.com/office/drawing/2014/main" id="{BCE413CA-926E-FD77-D2A1-057A9F9ED452}"/>
              </a:ext>
            </a:extLst>
          </p:cNvPr>
          <p:cNvSpPr/>
          <p:nvPr/>
        </p:nvSpPr>
        <p:spPr>
          <a:xfrm>
            <a:off x="1044341" y="1166361"/>
            <a:ext cx="859536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latin typeface="Arial" panose="020B0604020202020204" pitchFamily="34" charset="0"/>
                <a:ea typeface="Calibri" pitchFamily="34" charset="-122"/>
                <a:cs typeface="Arial" panose="020B0604020202020204" pitchFamily="34" charset="0"/>
              </a:rPr>
              <a:t>Tech Stack</a:t>
            </a:r>
            <a:endParaRPr lang="en-US" dirty="0">
              <a:latin typeface="Arial" panose="020B0604020202020204" pitchFamily="34" charset="0"/>
              <a:cs typeface="Arial" panose="020B0604020202020204" pitchFamily="34" charset="0"/>
            </a:endParaRPr>
          </a:p>
        </p:txBody>
      </p:sp>
      <p:sp>
        <p:nvSpPr>
          <p:cNvPr id="43" name="Text 6">
            <a:extLst>
              <a:ext uri="{FF2B5EF4-FFF2-40B4-BE49-F238E27FC236}">
                <a16:creationId xmlns:a16="http://schemas.microsoft.com/office/drawing/2014/main" id="{F7AD476A-A0D5-58DE-4DCC-7B8C2613704B}"/>
              </a:ext>
            </a:extLst>
          </p:cNvPr>
          <p:cNvSpPr/>
          <p:nvPr/>
        </p:nvSpPr>
        <p:spPr>
          <a:xfrm>
            <a:off x="1429352" y="1650385"/>
            <a:ext cx="8595360"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1A1A1A"/>
                </a:solidFill>
                <a:latin typeface="Arial" panose="020B0604020202020204" pitchFamily="34" charset="0"/>
                <a:ea typeface="Calibri" pitchFamily="34" charset="-122"/>
                <a:cs typeface="Arial" panose="020B0604020202020204" pitchFamily="34" charset="0"/>
              </a:rPr>
              <a:t>Use any one of the following approaches:</a:t>
            </a:r>
            <a:endParaRPr lang="en-US" sz="1600" dirty="0">
              <a:latin typeface="Arial" panose="020B0604020202020204" pitchFamily="34" charset="0"/>
              <a:cs typeface="Arial" panose="020B0604020202020204" pitchFamily="34" charset="0"/>
            </a:endParaRPr>
          </a:p>
        </p:txBody>
      </p:sp>
      <p:sp>
        <p:nvSpPr>
          <p:cNvPr id="44" name="Shape 7">
            <a:extLst>
              <a:ext uri="{FF2B5EF4-FFF2-40B4-BE49-F238E27FC236}">
                <a16:creationId xmlns:a16="http://schemas.microsoft.com/office/drawing/2014/main" id="{E7E0B31E-6200-8F08-4002-2EB3ED7499C2}"/>
              </a:ext>
            </a:extLst>
          </p:cNvPr>
          <p:cNvSpPr/>
          <p:nvPr/>
        </p:nvSpPr>
        <p:spPr>
          <a:xfrm>
            <a:off x="1493841" y="2093976"/>
            <a:ext cx="292608" cy="310896"/>
          </a:xfrm>
          <a:prstGeom prst="rect">
            <a:avLst/>
          </a:prstGeom>
          <a:solidFill>
            <a:srgbClr val="E8E8E8"/>
          </a:solidFill>
          <a:ln w="12700">
            <a:solidFill>
              <a:srgbClr val="DDDDDD"/>
            </a:solidFill>
            <a:prstDash val="solid"/>
          </a:ln>
        </p:spPr>
        <p:txBody>
          <a:bodyPr/>
          <a:lstStyle/>
          <a:p>
            <a:endParaRPr lang="en-IN" sz="1600">
              <a:latin typeface="Arial" panose="020B0604020202020204" pitchFamily="34" charset="0"/>
              <a:cs typeface="Arial" panose="020B0604020202020204" pitchFamily="34" charset="0"/>
            </a:endParaRPr>
          </a:p>
        </p:txBody>
      </p:sp>
      <p:sp>
        <p:nvSpPr>
          <p:cNvPr id="45" name="Text 8">
            <a:extLst>
              <a:ext uri="{FF2B5EF4-FFF2-40B4-BE49-F238E27FC236}">
                <a16:creationId xmlns:a16="http://schemas.microsoft.com/office/drawing/2014/main" id="{6B670C90-CBB0-7F58-0DB2-4EF007233BD5}"/>
              </a:ext>
            </a:extLst>
          </p:cNvPr>
          <p:cNvSpPr/>
          <p:nvPr/>
        </p:nvSpPr>
        <p:spPr>
          <a:xfrm>
            <a:off x="1798320" y="2093976"/>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latin typeface="Arial" panose="020B0604020202020204" pitchFamily="34" charset="0"/>
              <a:cs typeface="Arial" panose="020B0604020202020204" pitchFamily="34" charset="0"/>
            </a:endParaRPr>
          </a:p>
        </p:txBody>
      </p:sp>
      <p:sp>
        <p:nvSpPr>
          <p:cNvPr id="46" name="Text 9">
            <a:extLst>
              <a:ext uri="{FF2B5EF4-FFF2-40B4-BE49-F238E27FC236}">
                <a16:creationId xmlns:a16="http://schemas.microsoft.com/office/drawing/2014/main" id="{A7653C21-CD71-7644-E885-8FA480002640}"/>
              </a:ext>
            </a:extLst>
          </p:cNvPr>
          <p:cNvSpPr/>
          <p:nvPr/>
        </p:nvSpPr>
        <p:spPr>
          <a:xfrm>
            <a:off x="1815004" y="2111528"/>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ea typeface="Calibri" pitchFamily="34" charset="-122"/>
                <a:cs typeface="Arial" panose="020B0604020202020204" pitchFamily="34" charset="0"/>
              </a:rPr>
              <a:t>LangFlow + IBM watsonx.ai + Granite Models</a:t>
            </a:r>
            <a:endParaRPr lang="en-US" sz="1600" dirty="0">
              <a:latin typeface="Arial" panose="020B0604020202020204" pitchFamily="34" charset="0"/>
              <a:cs typeface="Arial" panose="020B0604020202020204" pitchFamily="34" charset="0"/>
            </a:endParaRPr>
          </a:p>
        </p:txBody>
      </p:sp>
      <p:sp>
        <p:nvSpPr>
          <p:cNvPr id="47" name="Shape 10">
            <a:extLst>
              <a:ext uri="{FF2B5EF4-FFF2-40B4-BE49-F238E27FC236}">
                <a16:creationId xmlns:a16="http://schemas.microsoft.com/office/drawing/2014/main" id="{F5C1C676-0FB1-4A5E-FB6D-45A11EADD0A9}"/>
              </a:ext>
            </a:extLst>
          </p:cNvPr>
          <p:cNvSpPr/>
          <p:nvPr/>
        </p:nvSpPr>
        <p:spPr>
          <a:xfrm>
            <a:off x="1493841" y="2569464"/>
            <a:ext cx="292608" cy="310896"/>
          </a:xfrm>
          <a:prstGeom prst="rect">
            <a:avLst/>
          </a:prstGeom>
          <a:solidFill>
            <a:srgbClr val="E8E8E8"/>
          </a:solidFill>
          <a:ln w="12700">
            <a:solidFill>
              <a:srgbClr val="DDDDDD"/>
            </a:solidFill>
            <a:prstDash val="solid"/>
          </a:ln>
        </p:spPr>
        <p:txBody>
          <a:bodyPr/>
          <a:lstStyle/>
          <a:p>
            <a:endParaRPr lang="en-IN" sz="1600">
              <a:latin typeface="Arial" panose="020B0604020202020204" pitchFamily="34" charset="0"/>
              <a:cs typeface="Arial" panose="020B0604020202020204" pitchFamily="34" charset="0"/>
            </a:endParaRPr>
          </a:p>
        </p:txBody>
      </p:sp>
      <p:sp>
        <p:nvSpPr>
          <p:cNvPr id="48" name="Text 11">
            <a:extLst>
              <a:ext uri="{FF2B5EF4-FFF2-40B4-BE49-F238E27FC236}">
                <a16:creationId xmlns:a16="http://schemas.microsoft.com/office/drawing/2014/main" id="{B1E12E07-2FA1-CC4A-07C6-8BA36654A06A}"/>
              </a:ext>
            </a:extLst>
          </p:cNvPr>
          <p:cNvSpPr/>
          <p:nvPr/>
        </p:nvSpPr>
        <p:spPr>
          <a:xfrm>
            <a:off x="1798320" y="2569464"/>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latin typeface="Arial" panose="020B0604020202020204" pitchFamily="34" charset="0"/>
              <a:cs typeface="Arial" panose="020B0604020202020204" pitchFamily="34" charset="0"/>
            </a:endParaRPr>
          </a:p>
        </p:txBody>
      </p:sp>
      <p:sp>
        <p:nvSpPr>
          <p:cNvPr id="49" name="Text 12">
            <a:extLst>
              <a:ext uri="{FF2B5EF4-FFF2-40B4-BE49-F238E27FC236}">
                <a16:creationId xmlns:a16="http://schemas.microsoft.com/office/drawing/2014/main" id="{164A3FB1-745A-6FC9-98EA-6B1127D90123}"/>
              </a:ext>
            </a:extLst>
          </p:cNvPr>
          <p:cNvSpPr/>
          <p:nvPr/>
        </p:nvSpPr>
        <p:spPr>
          <a:xfrm>
            <a:off x="1815004" y="2551912"/>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ea typeface="Calibri" pitchFamily="34" charset="-122"/>
                <a:cs typeface="Arial" panose="020B0604020202020204" pitchFamily="34" charset="0"/>
              </a:rPr>
              <a:t>IBM Cloud Agentic Lab with IBM Granite Models</a:t>
            </a:r>
            <a:endParaRPr lang="en-US" sz="1600" dirty="0">
              <a:latin typeface="Arial" panose="020B0604020202020204" pitchFamily="34" charset="0"/>
              <a:cs typeface="Arial" panose="020B0604020202020204" pitchFamily="34" charset="0"/>
            </a:endParaRPr>
          </a:p>
        </p:txBody>
      </p:sp>
      <p:sp>
        <p:nvSpPr>
          <p:cNvPr id="50" name="Shape 13">
            <a:extLst>
              <a:ext uri="{FF2B5EF4-FFF2-40B4-BE49-F238E27FC236}">
                <a16:creationId xmlns:a16="http://schemas.microsoft.com/office/drawing/2014/main" id="{518E81DA-F10F-FBDE-C25B-EF29E315C69E}"/>
              </a:ext>
            </a:extLst>
          </p:cNvPr>
          <p:cNvSpPr/>
          <p:nvPr/>
        </p:nvSpPr>
        <p:spPr>
          <a:xfrm>
            <a:off x="1493841" y="3028896"/>
            <a:ext cx="292608" cy="310896"/>
          </a:xfrm>
          <a:prstGeom prst="rect">
            <a:avLst/>
          </a:prstGeom>
          <a:solidFill>
            <a:srgbClr val="E07B00"/>
          </a:solidFill>
          <a:ln w="12700">
            <a:solidFill>
              <a:srgbClr val="E07B00"/>
            </a:solidFill>
            <a:prstDash val="solid"/>
          </a:ln>
        </p:spPr>
        <p:txBody>
          <a:bodyPr/>
          <a:lstStyle/>
          <a:p>
            <a:endParaRPr lang="en-IN" sz="1600" dirty="0">
              <a:latin typeface="Arial" panose="020B0604020202020204" pitchFamily="34" charset="0"/>
              <a:cs typeface="Arial" panose="020B0604020202020204" pitchFamily="34" charset="0"/>
            </a:endParaRPr>
          </a:p>
        </p:txBody>
      </p:sp>
      <p:sp>
        <p:nvSpPr>
          <p:cNvPr id="51" name="Text 14">
            <a:extLst>
              <a:ext uri="{FF2B5EF4-FFF2-40B4-BE49-F238E27FC236}">
                <a16:creationId xmlns:a16="http://schemas.microsoft.com/office/drawing/2014/main" id="{9208A224-0B45-7DA3-816E-CE963769F31E}"/>
              </a:ext>
            </a:extLst>
          </p:cNvPr>
          <p:cNvSpPr/>
          <p:nvPr/>
        </p:nvSpPr>
        <p:spPr>
          <a:xfrm>
            <a:off x="1798320" y="3044952"/>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2" name="Text 15">
            <a:extLst>
              <a:ext uri="{FF2B5EF4-FFF2-40B4-BE49-F238E27FC236}">
                <a16:creationId xmlns:a16="http://schemas.microsoft.com/office/drawing/2014/main" id="{CC35E53F-560C-C864-F753-295F988CE46B}"/>
              </a:ext>
            </a:extLst>
          </p:cNvPr>
          <p:cNvSpPr/>
          <p:nvPr/>
        </p:nvSpPr>
        <p:spPr>
          <a:xfrm>
            <a:off x="1815004" y="3028896"/>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1A2F5E"/>
                </a:solidFill>
                <a:latin typeface="Arial" panose="020B0604020202020204" pitchFamily="34" charset="0"/>
                <a:ea typeface="Calibri" pitchFamily="34" charset="-122"/>
                <a:cs typeface="Arial" panose="020B0604020202020204" pitchFamily="34" charset="0"/>
              </a:rPr>
              <a:t>IBM watsonx Orchestrate + Knowledge Base + ReAct Agent</a:t>
            </a:r>
            <a:endParaRPr lang="en-US" sz="1600" dirty="0">
              <a:latin typeface="Arial" panose="020B0604020202020204" pitchFamily="34" charset="0"/>
              <a:cs typeface="Arial" panose="020B0604020202020204" pitchFamily="34" charset="0"/>
            </a:endParaRPr>
          </a:p>
        </p:txBody>
      </p:sp>
      <p:sp>
        <p:nvSpPr>
          <p:cNvPr id="53" name="Shape 16">
            <a:extLst>
              <a:ext uri="{FF2B5EF4-FFF2-40B4-BE49-F238E27FC236}">
                <a16:creationId xmlns:a16="http://schemas.microsoft.com/office/drawing/2014/main" id="{20C25E72-DDFA-B0DF-8A02-225C29CEBCD0}"/>
              </a:ext>
            </a:extLst>
          </p:cNvPr>
          <p:cNvSpPr/>
          <p:nvPr/>
        </p:nvSpPr>
        <p:spPr>
          <a:xfrm>
            <a:off x="1493841" y="3511589"/>
            <a:ext cx="292608" cy="310896"/>
          </a:xfrm>
          <a:prstGeom prst="rect">
            <a:avLst/>
          </a:prstGeom>
          <a:solidFill>
            <a:srgbClr val="E8E8E8"/>
          </a:solidFill>
          <a:ln w="12700">
            <a:solidFill>
              <a:srgbClr val="DDDDDD"/>
            </a:solidFill>
            <a:prstDash val="solid"/>
          </a:ln>
        </p:spPr>
        <p:txBody>
          <a:bodyPr/>
          <a:lstStyle/>
          <a:p>
            <a:endParaRPr lang="en-IN" sz="1600">
              <a:latin typeface="Arial" panose="020B0604020202020204" pitchFamily="34" charset="0"/>
              <a:cs typeface="Arial" panose="020B0604020202020204" pitchFamily="34" charset="0"/>
            </a:endParaRPr>
          </a:p>
        </p:txBody>
      </p:sp>
      <p:sp>
        <p:nvSpPr>
          <p:cNvPr id="54" name="Text 17">
            <a:extLst>
              <a:ext uri="{FF2B5EF4-FFF2-40B4-BE49-F238E27FC236}">
                <a16:creationId xmlns:a16="http://schemas.microsoft.com/office/drawing/2014/main" id="{AFE2EE16-565D-5516-96DF-A9BC6D7ABC0A}"/>
              </a:ext>
            </a:extLst>
          </p:cNvPr>
          <p:cNvSpPr/>
          <p:nvPr/>
        </p:nvSpPr>
        <p:spPr>
          <a:xfrm>
            <a:off x="1798320" y="3520440"/>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latin typeface="Arial" panose="020B0604020202020204" pitchFamily="34" charset="0"/>
              <a:cs typeface="Arial" panose="020B0604020202020204" pitchFamily="34" charset="0"/>
            </a:endParaRPr>
          </a:p>
        </p:txBody>
      </p:sp>
      <p:sp>
        <p:nvSpPr>
          <p:cNvPr id="55" name="Text 18">
            <a:extLst>
              <a:ext uri="{FF2B5EF4-FFF2-40B4-BE49-F238E27FC236}">
                <a16:creationId xmlns:a16="http://schemas.microsoft.com/office/drawing/2014/main" id="{0FB21A26-1A18-DF9D-EC44-1A3A06FC4BA1}"/>
              </a:ext>
            </a:extLst>
          </p:cNvPr>
          <p:cNvSpPr/>
          <p:nvPr/>
        </p:nvSpPr>
        <p:spPr>
          <a:xfrm>
            <a:off x="1815004" y="3520440"/>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ea typeface="Calibri" pitchFamily="34" charset="-122"/>
                <a:cs typeface="Arial" panose="020B0604020202020204" pitchFamily="34" charset="0"/>
              </a:rPr>
              <a:t>Replicate with LangChain + RAG + IBM Granite Models</a:t>
            </a:r>
            <a:endParaRPr lang="en-US" sz="1600" dirty="0">
              <a:latin typeface="Arial" panose="020B0604020202020204" pitchFamily="34" charset="0"/>
              <a:cs typeface="Arial" panose="020B0604020202020204" pitchFamily="34" charset="0"/>
            </a:endParaRPr>
          </a:p>
        </p:txBody>
      </p:sp>
      <p:sp>
        <p:nvSpPr>
          <p:cNvPr id="56" name="Shape 19">
            <a:extLst>
              <a:ext uri="{FF2B5EF4-FFF2-40B4-BE49-F238E27FC236}">
                <a16:creationId xmlns:a16="http://schemas.microsoft.com/office/drawing/2014/main" id="{35005E40-8D9C-6678-1609-47F9BFAD27BD}"/>
              </a:ext>
            </a:extLst>
          </p:cNvPr>
          <p:cNvSpPr/>
          <p:nvPr/>
        </p:nvSpPr>
        <p:spPr>
          <a:xfrm>
            <a:off x="1798320" y="4014216"/>
            <a:ext cx="8595360" cy="502920"/>
          </a:xfrm>
          <a:prstGeom prst="rect">
            <a:avLst/>
          </a:prstGeom>
          <a:noFill/>
          <a:ln w="12700">
            <a:noFill/>
            <a:prstDash val="solid"/>
          </a:ln>
        </p:spPr>
        <p:txBody>
          <a:bodyPr/>
          <a:lstStyle/>
          <a:p>
            <a:endParaRPr lang="en-IN" sz="1600">
              <a:latin typeface="Arial" panose="020B0604020202020204" pitchFamily="34" charset="0"/>
              <a:cs typeface="Arial" panose="020B0604020202020204" pitchFamily="34" charset="0"/>
            </a:endParaRPr>
          </a:p>
        </p:txBody>
      </p:sp>
      <p:sp>
        <p:nvSpPr>
          <p:cNvPr id="57" name="Text 20">
            <a:extLst>
              <a:ext uri="{FF2B5EF4-FFF2-40B4-BE49-F238E27FC236}">
                <a16:creationId xmlns:a16="http://schemas.microsoft.com/office/drawing/2014/main" id="{2A4313E8-B82F-07F9-BB6D-E432E53A4A36}"/>
              </a:ext>
            </a:extLst>
          </p:cNvPr>
          <p:cNvSpPr/>
          <p:nvPr/>
        </p:nvSpPr>
        <p:spPr>
          <a:xfrm>
            <a:off x="1798320" y="4014216"/>
            <a:ext cx="8595360" cy="502920"/>
          </a:xfrm>
          <a:prstGeom prst="rect">
            <a:avLst/>
          </a:prstGeom>
          <a:solidFill>
            <a:schemeClr val="tx2"/>
          </a:solidFill>
          <a:ln>
            <a:solidFill>
              <a:srgbClr val="F0A5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1A1A1A"/>
                </a:solidFill>
                <a:latin typeface="Arial" panose="020B0604020202020204" pitchFamily="34" charset="0"/>
                <a:ea typeface="Calibri" pitchFamily="34" charset="-122"/>
                <a:cs typeface="Arial" panose="020B0604020202020204" pitchFamily="34" charset="0"/>
              </a:rPr>
              <a:t>I used </a:t>
            </a:r>
            <a:r>
              <a:rPr lang="en-US" sz="1600" b="1" dirty="0">
                <a:solidFill>
                  <a:srgbClr val="E07B00"/>
                </a:solidFill>
                <a:latin typeface="Arial" panose="020B0604020202020204" pitchFamily="34" charset="0"/>
                <a:ea typeface="Calibri" pitchFamily="34" charset="-122"/>
                <a:cs typeface="Arial" panose="020B0604020202020204" pitchFamily="34" charset="0"/>
              </a:rPr>
              <a:t>IBM watsonx Orchestrate + Knowledge Base + ReAct Agent</a:t>
            </a:r>
            <a:endParaRPr lang="en-US" sz="1600" dirty="0">
              <a:latin typeface="Arial" panose="020B0604020202020204" pitchFamily="34" charset="0"/>
              <a:cs typeface="Arial" panose="020B0604020202020204" pitchFamily="34" charset="0"/>
            </a:endParaRPr>
          </a:p>
        </p:txBody>
      </p:sp>
      <p:sp>
        <p:nvSpPr>
          <p:cNvPr id="58" name="Shape 21">
            <a:extLst>
              <a:ext uri="{FF2B5EF4-FFF2-40B4-BE49-F238E27FC236}">
                <a16:creationId xmlns:a16="http://schemas.microsoft.com/office/drawing/2014/main" id="{E1B790C6-A5B2-B4B2-0218-5AAE77A4A977}"/>
              </a:ext>
            </a:extLst>
          </p:cNvPr>
          <p:cNvSpPr/>
          <p:nvPr/>
        </p:nvSpPr>
        <p:spPr>
          <a:xfrm>
            <a:off x="179832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59" name="Text 22">
            <a:extLst>
              <a:ext uri="{FF2B5EF4-FFF2-40B4-BE49-F238E27FC236}">
                <a16:creationId xmlns:a16="http://schemas.microsoft.com/office/drawing/2014/main" id="{6BF1D137-67B4-BE3A-740A-375A53AD5048}"/>
              </a:ext>
            </a:extLst>
          </p:cNvPr>
          <p:cNvSpPr/>
          <p:nvPr/>
        </p:nvSpPr>
        <p:spPr>
          <a:xfrm>
            <a:off x="179832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IBM Cloud</a:t>
            </a:r>
            <a:endParaRPr lang="en-US" sz="1400" dirty="0">
              <a:latin typeface="Arial" panose="020B0604020202020204" pitchFamily="34" charset="0"/>
              <a:cs typeface="Arial" panose="020B0604020202020204" pitchFamily="34" charset="0"/>
            </a:endParaRPr>
          </a:p>
        </p:txBody>
      </p:sp>
      <p:sp>
        <p:nvSpPr>
          <p:cNvPr id="60" name="Text 23">
            <a:extLst>
              <a:ext uri="{FF2B5EF4-FFF2-40B4-BE49-F238E27FC236}">
                <a16:creationId xmlns:a16="http://schemas.microsoft.com/office/drawing/2014/main" id="{1D8B921C-0FC4-9CAC-B9B9-EB7963C97E69}"/>
              </a:ext>
            </a:extLst>
          </p:cNvPr>
          <p:cNvSpPr/>
          <p:nvPr/>
        </p:nvSpPr>
        <p:spPr>
          <a:xfrm>
            <a:off x="179832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Cloud infrastructure</a:t>
            </a:r>
            <a:endParaRPr lang="en-US" sz="1100" dirty="0">
              <a:latin typeface="Arial" panose="020B0604020202020204" pitchFamily="34" charset="0"/>
              <a:cs typeface="Arial" panose="020B0604020202020204" pitchFamily="34" charset="0"/>
            </a:endParaRPr>
          </a:p>
        </p:txBody>
      </p:sp>
      <p:sp>
        <p:nvSpPr>
          <p:cNvPr id="61" name="Shape 24">
            <a:extLst>
              <a:ext uri="{FF2B5EF4-FFF2-40B4-BE49-F238E27FC236}">
                <a16:creationId xmlns:a16="http://schemas.microsoft.com/office/drawing/2014/main" id="{7DF51F1E-31C1-CCCD-7A2D-844E7CA4CC93}"/>
              </a:ext>
            </a:extLst>
          </p:cNvPr>
          <p:cNvSpPr/>
          <p:nvPr/>
        </p:nvSpPr>
        <p:spPr>
          <a:xfrm>
            <a:off x="399288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2" name="Text 25">
            <a:extLst>
              <a:ext uri="{FF2B5EF4-FFF2-40B4-BE49-F238E27FC236}">
                <a16:creationId xmlns:a16="http://schemas.microsoft.com/office/drawing/2014/main" id="{7475AA8C-EF39-F1D6-D4F9-3C337BFBB6A4}"/>
              </a:ext>
            </a:extLst>
          </p:cNvPr>
          <p:cNvSpPr/>
          <p:nvPr/>
        </p:nvSpPr>
        <p:spPr>
          <a:xfrm>
            <a:off x="399288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watsonx Orchestrate</a:t>
            </a:r>
            <a:endParaRPr lang="en-US" sz="1400" dirty="0">
              <a:latin typeface="Arial" panose="020B0604020202020204" pitchFamily="34" charset="0"/>
              <a:cs typeface="Arial" panose="020B0604020202020204" pitchFamily="34" charset="0"/>
            </a:endParaRPr>
          </a:p>
        </p:txBody>
      </p:sp>
      <p:sp>
        <p:nvSpPr>
          <p:cNvPr id="63" name="Text 26">
            <a:extLst>
              <a:ext uri="{FF2B5EF4-FFF2-40B4-BE49-F238E27FC236}">
                <a16:creationId xmlns:a16="http://schemas.microsoft.com/office/drawing/2014/main" id="{6C105E02-D773-1610-A475-698D6320A2F6}"/>
              </a:ext>
            </a:extLst>
          </p:cNvPr>
          <p:cNvSpPr/>
          <p:nvPr/>
        </p:nvSpPr>
        <p:spPr>
          <a:xfrm>
            <a:off x="399288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Agent platform</a:t>
            </a:r>
            <a:endParaRPr lang="en-US" sz="1100" dirty="0">
              <a:latin typeface="Arial" panose="020B0604020202020204" pitchFamily="34" charset="0"/>
              <a:cs typeface="Arial" panose="020B0604020202020204" pitchFamily="34" charset="0"/>
            </a:endParaRPr>
          </a:p>
        </p:txBody>
      </p:sp>
      <p:sp>
        <p:nvSpPr>
          <p:cNvPr id="64" name="Shape 27">
            <a:extLst>
              <a:ext uri="{FF2B5EF4-FFF2-40B4-BE49-F238E27FC236}">
                <a16:creationId xmlns:a16="http://schemas.microsoft.com/office/drawing/2014/main" id="{79B1BB5E-349C-3F13-8EE7-6A2E5CA7750D}"/>
              </a:ext>
            </a:extLst>
          </p:cNvPr>
          <p:cNvSpPr/>
          <p:nvPr/>
        </p:nvSpPr>
        <p:spPr>
          <a:xfrm>
            <a:off x="618744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5" name="Text 28">
            <a:extLst>
              <a:ext uri="{FF2B5EF4-FFF2-40B4-BE49-F238E27FC236}">
                <a16:creationId xmlns:a16="http://schemas.microsoft.com/office/drawing/2014/main" id="{1FC525D0-0120-2CDC-AD1A-5F934006A781}"/>
              </a:ext>
            </a:extLst>
          </p:cNvPr>
          <p:cNvSpPr/>
          <p:nvPr/>
        </p:nvSpPr>
        <p:spPr>
          <a:xfrm>
            <a:off x="618744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ReAct Agent</a:t>
            </a:r>
            <a:endParaRPr lang="en-US" sz="1400" dirty="0">
              <a:latin typeface="Arial" panose="020B0604020202020204" pitchFamily="34" charset="0"/>
              <a:cs typeface="Arial" panose="020B0604020202020204" pitchFamily="34" charset="0"/>
            </a:endParaRPr>
          </a:p>
        </p:txBody>
      </p:sp>
      <p:sp>
        <p:nvSpPr>
          <p:cNvPr id="66" name="Text 29">
            <a:extLst>
              <a:ext uri="{FF2B5EF4-FFF2-40B4-BE49-F238E27FC236}">
                <a16:creationId xmlns:a16="http://schemas.microsoft.com/office/drawing/2014/main" id="{84F06B64-1540-40F9-ACEB-EE49AABC3EC1}"/>
              </a:ext>
            </a:extLst>
          </p:cNvPr>
          <p:cNvSpPr/>
          <p:nvPr/>
        </p:nvSpPr>
        <p:spPr>
          <a:xfrm>
            <a:off x="618744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Reasoning pattern</a:t>
            </a:r>
            <a:endParaRPr lang="en-US" sz="1100" dirty="0">
              <a:latin typeface="Arial" panose="020B0604020202020204" pitchFamily="34" charset="0"/>
              <a:cs typeface="Arial" panose="020B0604020202020204" pitchFamily="34" charset="0"/>
            </a:endParaRPr>
          </a:p>
        </p:txBody>
      </p:sp>
      <p:sp>
        <p:nvSpPr>
          <p:cNvPr id="67" name="Shape 30">
            <a:extLst>
              <a:ext uri="{FF2B5EF4-FFF2-40B4-BE49-F238E27FC236}">
                <a16:creationId xmlns:a16="http://schemas.microsoft.com/office/drawing/2014/main" id="{17B5A7CE-B83B-4BE6-6C83-DE18440B3BA2}"/>
              </a:ext>
            </a:extLst>
          </p:cNvPr>
          <p:cNvSpPr/>
          <p:nvPr/>
        </p:nvSpPr>
        <p:spPr>
          <a:xfrm>
            <a:off x="838200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8" name="Text 31">
            <a:extLst>
              <a:ext uri="{FF2B5EF4-FFF2-40B4-BE49-F238E27FC236}">
                <a16:creationId xmlns:a16="http://schemas.microsoft.com/office/drawing/2014/main" id="{B921D79F-A765-E39B-05B6-7F8872FDEA80}"/>
              </a:ext>
            </a:extLst>
          </p:cNvPr>
          <p:cNvSpPr/>
          <p:nvPr/>
        </p:nvSpPr>
        <p:spPr>
          <a:xfrm>
            <a:off x="838200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Knowledge Base</a:t>
            </a:r>
            <a:endParaRPr lang="en-US" sz="1400" dirty="0">
              <a:latin typeface="Arial" panose="020B0604020202020204" pitchFamily="34" charset="0"/>
              <a:cs typeface="Arial" panose="020B0604020202020204" pitchFamily="34" charset="0"/>
            </a:endParaRPr>
          </a:p>
        </p:txBody>
      </p:sp>
      <p:sp>
        <p:nvSpPr>
          <p:cNvPr id="69" name="Text 32">
            <a:extLst>
              <a:ext uri="{FF2B5EF4-FFF2-40B4-BE49-F238E27FC236}">
                <a16:creationId xmlns:a16="http://schemas.microsoft.com/office/drawing/2014/main" id="{6C102869-1D02-5ED2-777E-E9727D0AB4FE}"/>
              </a:ext>
            </a:extLst>
          </p:cNvPr>
          <p:cNvSpPr/>
          <p:nvPr/>
        </p:nvSpPr>
        <p:spPr>
          <a:xfrm>
            <a:off x="838200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PDF upload / RAG</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524315"/>
          </a:xfrm>
          <a:prstGeom prst="rect">
            <a:avLst/>
          </a:prstGeom>
          <a:noFill/>
        </p:spPr>
        <p:txBody>
          <a:bodyPr wrap="square" rtlCol="0">
            <a:spAutoFit/>
          </a:bodyPr>
          <a:lstStyle/>
          <a:p>
            <a:r>
              <a:rPr lang="en-US" sz="1600" b="1" dirty="0">
                <a:solidFill>
                  <a:schemeClr val="tx1"/>
                </a:solidFill>
              </a:rPr>
              <a:t>Proposed Solution: AI-Powered Indian Cuisine Recipe Agent</a:t>
            </a:r>
          </a:p>
          <a:p>
            <a:pPr>
              <a:buSzPct val="100000"/>
            </a:pPr>
            <a:r>
              <a:rPr lang="en-US" sz="1600" dirty="0">
                <a:solidFill>
                  <a:schemeClr val="tx1"/>
                </a:solidFill>
                <a:latin typeface="Arial" panose="020B0604020202020204" pitchFamily="34" charset="0"/>
                <a:cs typeface="Arial" panose="020B0604020202020204" pitchFamily="34" charset="0"/>
              </a:rPr>
              <a:t>The proposed solution is </a:t>
            </a:r>
            <a:r>
              <a:rPr lang="en-US" sz="1600" dirty="0">
                <a:solidFill>
                  <a:schemeClr val="tx1"/>
                </a:solidFill>
                <a:latin typeface="Arial" panose="020B0604020202020204" pitchFamily="34" charset="0"/>
                <a:ea typeface="Calibri" pitchFamily="34" charset="-122"/>
                <a:cs typeface="Arial" panose="020B0604020202020204" pitchFamily="34" charset="0"/>
              </a:rPr>
              <a:t>an AI-powered Indian Cuisine Recipe Assistant built using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a curated Knowledge Base, and the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(Reasoning + Acting) agent pattern to deliver accurate, authentic, and beginner-friendly Indian recipes.
At its core, the solution uses a Knowledge Base built from a comprehensive Indian recipes PDF covering 20 dishes across North Indian, South Indian, and regional cuisines. The agent retrieves precise information from this knowledge base rather than relying on unverified internet data.
The system is configured with:</a:t>
            </a:r>
          </a:p>
          <a:p>
            <a:pPr marL="285750" indent="-285750">
              <a:buSzPct val="100000"/>
              <a:buFont typeface="Arial" panose="020B0604020202020204" pitchFamily="34" charset="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Recipe Retrieval Agent – Fetches accurate recipes from the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Knowledge Base</a:t>
            </a:r>
          </a:p>
          <a:p>
            <a:pPr marL="285750" indent="-285750">
              <a:buSzPct val="100000"/>
              <a:buFont typeface="Arial" panose="020B0604020202020204" pitchFamily="34" charset="0"/>
              <a:buChar char="•"/>
            </a:pP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Reasoning Engine – Thinks, acts, and refines recipe responses iteratively for accuracy</a:t>
            </a:r>
          </a:p>
          <a:p>
            <a:pPr marL="285750" indent="-285750">
              <a:buSzPct val="100000"/>
              <a:buFont typeface="Arial" panose="020B0604020202020204" pitchFamily="34" charset="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Serving Size Adapter – Adjusts ingredient quantities proportionally based on user-specified servings</a:t>
            </a:r>
          </a:p>
          <a:p>
            <a:pPr marL="285750" indent="-285750">
              <a:buSzPct val="100000"/>
              <a:buFont typeface="Arial" panose="020B0604020202020204" pitchFamily="34" charset="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Spice Level Guide – Provides adjustments for Mild / Medium / Hot preference</a:t>
            </a:r>
          </a:p>
          <a:p>
            <a:pPr marL="285750" indent="-285750">
              <a:buSzPct val="100000"/>
              <a:buFont typeface="Arial" panose="020B0604020202020204" pitchFamily="34" charset="0"/>
              <a:buChar char="•"/>
            </a:pPr>
            <a:endParaRPr lang="en-US" sz="1600" dirty="0">
              <a:solidFill>
                <a:schemeClr val="tx1"/>
              </a:solidFill>
              <a:latin typeface="Arial" panose="020B0604020202020204" pitchFamily="34" charset="0"/>
              <a:cs typeface="Arial" panose="020B0604020202020204" pitchFamily="34" charset="0"/>
            </a:endParaRPr>
          </a:p>
          <a:p>
            <a:pPr>
              <a:buSzPct val="100000"/>
            </a:pPr>
            <a:r>
              <a:rPr lang="en-US" sz="1600" dirty="0">
                <a:solidFill>
                  <a:schemeClr val="tx1"/>
                </a:solidFill>
                <a:latin typeface="Arial" panose="020B0604020202020204" pitchFamily="34" charset="0"/>
                <a:ea typeface="Calibri" pitchFamily="34" charset="-122"/>
                <a:cs typeface="Arial" panose="020B0604020202020204" pitchFamily="34" charset="0"/>
              </a:rPr>
              <a:t>The agent uses a behavior prompt to constrain responses strictly to the knowledge base, ensuring zero hallucination. It delivers structured recipe output covering ingredients, steps, cooking time, and tips in a consistent format.</a:t>
            </a:r>
            <a:endParaRPr lang="en-US" sz="16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827748" y="897442"/>
            <a:ext cx="6264263"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Watsonx</a:t>
            </a:r>
            <a:r>
              <a:rPr lang="en-US" sz="2400" b="1" dirty="0">
                <a:sym typeface="Times New Roman"/>
              </a:rPr>
              <a:t> Orchestrate components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1100078" y="1581769"/>
            <a:ext cx="9327290" cy="3046988"/>
          </a:xfrm>
          <a:prstGeom prst="rect">
            <a:avLst/>
          </a:prstGeom>
          <a:noFill/>
        </p:spPr>
        <p:txBody>
          <a:bodyPr wrap="square" rtlCol="0">
            <a:spAutoFit/>
          </a:bodyPr>
          <a:lstStyle/>
          <a:p>
            <a:pPr marL="342900" indent="-342900">
              <a:buAutoNum type="arabicParenR"/>
            </a:pPr>
            <a:r>
              <a:rPr lang="en-US" sz="1600" b="1" dirty="0"/>
              <a:t>Agent Profile</a:t>
            </a:r>
            <a:r>
              <a:rPr lang="en-US" sz="1600" dirty="0"/>
              <a:t> - Defines the agent's name, description, and purpose as the Indian Cuisine Recipe Assistant.</a:t>
            </a:r>
          </a:p>
          <a:p>
            <a:pPr marL="342900" indent="-342900">
              <a:buAutoNum type="arabicParenR"/>
            </a:pPr>
            <a:r>
              <a:rPr lang="en-US" sz="1600" b="1" dirty="0"/>
              <a:t>Knowledge Base </a:t>
            </a:r>
            <a:r>
              <a:rPr lang="en-US" sz="1600" dirty="0"/>
              <a:t>- PDF-indexed knowledge source (20 Indian recipes). Agent retrieves only from this source. Max 25 MB.</a:t>
            </a:r>
          </a:p>
          <a:p>
            <a:pPr marL="342900" indent="-342900">
              <a:buAutoNum type="arabicParenR"/>
            </a:pPr>
            <a:r>
              <a:rPr lang="en-US" sz="1600" b="1" dirty="0"/>
              <a:t>Behavior Prompt </a:t>
            </a:r>
            <a:r>
              <a:rPr lang="en-US" sz="1600" dirty="0"/>
              <a:t>- System instruction restricting agent to KB-only responses, structured output format, and serving size logic. </a:t>
            </a:r>
          </a:p>
          <a:p>
            <a:pPr marL="342900" indent="-342900">
              <a:buAutoNum type="arabicParenR"/>
            </a:pPr>
            <a:r>
              <a:rPr lang="en-US" sz="1600" b="1" dirty="0"/>
              <a:t>Welcome Message </a:t>
            </a:r>
            <a:r>
              <a:rPr lang="en-US" sz="1600" dirty="0"/>
              <a:t>- "Welcome to Indian Cuisine Recipe Assistant! 🍛" with 3 quick-start recipe prompts shown on home screen.</a:t>
            </a:r>
          </a:p>
          <a:p>
            <a:pPr marL="342900" indent="-342900">
              <a:buAutoNum type="arabicParenR"/>
            </a:pPr>
            <a:r>
              <a:rPr lang="en-US" sz="1600" b="1" dirty="0" err="1"/>
              <a:t>ReAct</a:t>
            </a:r>
            <a:r>
              <a:rPr lang="en-US" sz="1600" b="1" dirty="0"/>
              <a:t> Agent Style</a:t>
            </a:r>
            <a:r>
              <a:rPr lang="en-US" sz="1600" dirty="0"/>
              <a:t> - Enables iterative Reasoning + Acting cycle. Good for high-stakes recipe accuracy tasks.</a:t>
            </a:r>
          </a:p>
          <a:p>
            <a:pPr marL="342900" indent="-342900">
              <a:buAutoNum type="arabicParenR"/>
            </a:pPr>
            <a:r>
              <a:rPr lang="en-US" sz="1600" b="1" dirty="0"/>
              <a:t>Quick Start Prompts</a:t>
            </a:r>
            <a:r>
              <a:rPr lang="en-US" sz="1600" dirty="0"/>
              <a:t> - Pre-set prompts: Butter Chicken, Biryani, Palak Paneer – guides users to try the agent immediately.</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89" y="323239"/>
            <a:ext cx="9070349" cy="448508"/>
          </a:xfrm>
          <a:prstGeom prst="rect">
            <a:avLst/>
          </a:prstGeom>
          <a:noFill/>
          <a:ln>
            <a:noFill/>
          </a:ln>
        </p:spPr>
        <p:txBody>
          <a:bodyPr spcFirstLastPara="1" wrap="square" lIns="0" tIns="0" rIns="0" bIns="0" anchor="t" anchorCtr="0">
            <a:noAutofit/>
          </a:bodyPr>
          <a:lstStyle/>
          <a:p>
            <a:pPr marL="0" indent="0">
              <a:buNone/>
            </a:pPr>
            <a:r>
              <a:rPr lang="en-US" sz="2400" b="1" dirty="0" err="1">
                <a:solidFill>
                  <a:schemeClr val="tx1"/>
                </a:solidFill>
                <a:latin typeface="Arial" panose="020B0604020202020204" pitchFamily="34" charset="0"/>
                <a:ea typeface="Calibri" pitchFamily="34" charset="-122"/>
                <a:cs typeface="Arial" panose="020B0604020202020204" pitchFamily="34" charset="0"/>
              </a:rPr>
              <a:t>watsonx</a:t>
            </a:r>
            <a:r>
              <a:rPr lang="en-US" sz="2400" b="1" dirty="0">
                <a:solidFill>
                  <a:schemeClr val="tx1"/>
                </a:solidFill>
                <a:latin typeface="Arial" panose="020B0604020202020204" pitchFamily="34" charset="0"/>
                <a:ea typeface="Calibri" pitchFamily="34" charset="-122"/>
                <a:cs typeface="Arial" panose="020B0604020202020204" pitchFamily="34" charset="0"/>
              </a:rPr>
              <a:t> Orchestrate – Agent Configuration Workflow</a:t>
            </a:r>
            <a:endParaRPr lang="en-US" sz="2400" dirty="0">
              <a:solidFill>
                <a:schemeClr val="tx1"/>
              </a:solidFill>
              <a:latin typeface="Arial" panose="020B0604020202020204" pitchFamily="34" charset="0"/>
              <a:cs typeface="Arial" panose="020B0604020202020204" pitchFamily="34" charset="0"/>
            </a:endParaRPr>
          </a:p>
        </p:txBody>
      </p:sp>
      <p:sp>
        <p:nvSpPr>
          <p:cNvPr id="11" name="Text 7">
            <a:extLst>
              <a:ext uri="{FF2B5EF4-FFF2-40B4-BE49-F238E27FC236}">
                <a16:creationId xmlns:a16="http://schemas.microsoft.com/office/drawing/2014/main" id="{A591CE12-BB7D-D8D1-4D53-597916F3EDE2}"/>
              </a:ext>
            </a:extLst>
          </p:cNvPr>
          <p:cNvSpPr/>
          <p:nvPr/>
        </p:nvSpPr>
        <p:spPr>
          <a:xfrm>
            <a:off x="1688592" y="1011863"/>
            <a:ext cx="2908434" cy="319119"/>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latin typeface="Arial" panose="020B0604020202020204" pitchFamily="34" charset="0"/>
                <a:ea typeface="Calibri" pitchFamily="34" charset="-122"/>
                <a:cs typeface="Arial" panose="020B0604020202020204" pitchFamily="34" charset="0"/>
              </a:rPr>
              <a:t>Configuration Workflow -</a:t>
            </a:r>
            <a:endParaRPr lang="en-US" sz="1600" dirty="0">
              <a:latin typeface="Arial" panose="020B0604020202020204" pitchFamily="34" charset="0"/>
              <a:cs typeface="Arial" panose="020B0604020202020204" pitchFamily="34" charset="0"/>
            </a:endParaRPr>
          </a:p>
        </p:txBody>
      </p:sp>
      <p:sp>
        <p:nvSpPr>
          <p:cNvPr id="12" name="Shape 8">
            <a:extLst>
              <a:ext uri="{FF2B5EF4-FFF2-40B4-BE49-F238E27FC236}">
                <a16:creationId xmlns:a16="http://schemas.microsoft.com/office/drawing/2014/main" id="{78C7F6BD-30A7-B375-E0D7-4E4FCD982E54}"/>
              </a:ext>
            </a:extLst>
          </p:cNvPr>
          <p:cNvSpPr/>
          <p:nvPr/>
        </p:nvSpPr>
        <p:spPr>
          <a:xfrm>
            <a:off x="1798320"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13" name="Shape 9">
            <a:extLst>
              <a:ext uri="{FF2B5EF4-FFF2-40B4-BE49-F238E27FC236}">
                <a16:creationId xmlns:a16="http://schemas.microsoft.com/office/drawing/2014/main" id="{C0BEDD55-FBB7-D34B-8CA0-A7229A028A75}"/>
              </a:ext>
            </a:extLst>
          </p:cNvPr>
          <p:cNvSpPr/>
          <p:nvPr/>
        </p:nvSpPr>
        <p:spPr>
          <a:xfrm>
            <a:off x="225094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14" name="Text 10">
            <a:extLst>
              <a:ext uri="{FF2B5EF4-FFF2-40B4-BE49-F238E27FC236}">
                <a16:creationId xmlns:a16="http://schemas.microsoft.com/office/drawing/2014/main" id="{E2BA920C-B6E6-3256-D7C5-FECF9524282A}"/>
              </a:ext>
            </a:extLst>
          </p:cNvPr>
          <p:cNvSpPr/>
          <p:nvPr/>
        </p:nvSpPr>
        <p:spPr>
          <a:xfrm>
            <a:off x="225094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01</a:t>
            </a:r>
            <a:endParaRPr lang="en-US" sz="1100" dirty="0">
              <a:latin typeface="Arial" panose="020B0604020202020204" pitchFamily="34" charset="0"/>
              <a:cs typeface="Arial" panose="020B0604020202020204" pitchFamily="34" charset="0"/>
            </a:endParaRPr>
          </a:p>
        </p:txBody>
      </p:sp>
      <p:sp>
        <p:nvSpPr>
          <p:cNvPr id="15" name="Text 11">
            <a:extLst>
              <a:ext uri="{FF2B5EF4-FFF2-40B4-BE49-F238E27FC236}">
                <a16:creationId xmlns:a16="http://schemas.microsoft.com/office/drawing/2014/main" id="{27CFA7CE-7FD9-672F-6967-5322B97FC1CD}"/>
              </a:ext>
            </a:extLst>
          </p:cNvPr>
          <p:cNvSpPr/>
          <p:nvPr/>
        </p:nvSpPr>
        <p:spPr>
          <a:xfrm>
            <a:off x="1834896"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IBM Cloud Login</a:t>
            </a:r>
            <a:endParaRPr lang="en-US" sz="1050" dirty="0">
              <a:latin typeface="Arial" panose="020B0604020202020204" pitchFamily="34" charset="0"/>
              <a:cs typeface="Arial" panose="020B0604020202020204" pitchFamily="34" charset="0"/>
            </a:endParaRPr>
          </a:p>
        </p:txBody>
      </p:sp>
      <p:sp>
        <p:nvSpPr>
          <p:cNvPr id="16" name="Text 12">
            <a:extLst>
              <a:ext uri="{FF2B5EF4-FFF2-40B4-BE49-F238E27FC236}">
                <a16:creationId xmlns:a16="http://schemas.microsoft.com/office/drawing/2014/main" id="{59D1ECF1-F946-E0D7-AE5B-E4E26D981E32}"/>
              </a:ext>
            </a:extLst>
          </p:cNvPr>
          <p:cNvSpPr/>
          <p:nvPr/>
        </p:nvSpPr>
        <p:spPr>
          <a:xfrm>
            <a:off x="1834896"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cloud.ibm.com</a:t>
            </a:r>
            <a:endParaRPr lang="en-US" sz="1000" dirty="0">
              <a:latin typeface="Arial" panose="020B0604020202020204" pitchFamily="34" charset="0"/>
              <a:cs typeface="Arial" panose="020B0604020202020204" pitchFamily="34" charset="0"/>
            </a:endParaRPr>
          </a:p>
        </p:txBody>
      </p:sp>
      <p:sp>
        <p:nvSpPr>
          <p:cNvPr id="17" name="Shape 13">
            <a:extLst>
              <a:ext uri="{FF2B5EF4-FFF2-40B4-BE49-F238E27FC236}">
                <a16:creationId xmlns:a16="http://schemas.microsoft.com/office/drawing/2014/main" id="{7DC2B4DD-6F59-24B0-D747-1760B6AA79E7}"/>
              </a:ext>
            </a:extLst>
          </p:cNvPr>
          <p:cNvSpPr/>
          <p:nvPr/>
        </p:nvSpPr>
        <p:spPr>
          <a:xfrm>
            <a:off x="312877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18" name="Text 14">
            <a:extLst>
              <a:ext uri="{FF2B5EF4-FFF2-40B4-BE49-F238E27FC236}">
                <a16:creationId xmlns:a16="http://schemas.microsoft.com/office/drawing/2014/main" id="{B670DE0B-4E43-0AF7-29F1-FD1640DA0EBD}"/>
              </a:ext>
            </a:extLst>
          </p:cNvPr>
          <p:cNvSpPr/>
          <p:nvPr/>
        </p:nvSpPr>
        <p:spPr>
          <a:xfrm>
            <a:off x="313791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19" name="Shape 15">
            <a:extLst>
              <a:ext uri="{FF2B5EF4-FFF2-40B4-BE49-F238E27FC236}">
                <a16:creationId xmlns:a16="http://schemas.microsoft.com/office/drawing/2014/main" id="{C44804F4-DCE6-60EC-68A3-0EC42051CD70}"/>
              </a:ext>
            </a:extLst>
          </p:cNvPr>
          <p:cNvSpPr/>
          <p:nvPr/>
        </p:nvSpPr>
        <p:spPr>
          <a:xfrm>
            <a:off x="329336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20" name="Shape 16">
            <a:extLst>
              <a:ext uri="{FF2B5EF4-FFF2-40B4-BE49-F238E27FC236}">
                <a16:creationId xmlns:a16="http://schemas.microsoft.com/office/drawing/2014/main" id="{95E571B0-DFEB-91F0-C5F2-78959CB7DBD5}"/>
              </a:ext>
            </a:extLst>
          </p:cNvPr>
          <p:cNvSpPr/>
          <p:nvPr/>
        </p:nvSpPr>
        <p:spPr>
          <a:xfrm>
            <a:off x="371398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21" name="Text 17">
            <a:extLst>
              <a:ext uri="{FF2B5EF4-FFF2-40B4-BE49-F238E27FC236}">
                <a16:creationId xmlns:a16="http://schemas.microsoft.com/office/drawing/2014/main" id="{262FB47E-C069-8CDF-EB1F-5578FB9BAC8B}"/>
              </a:ext>
            </a:extLst>
          </p:cNvPr>
          <p:cNvSpPr/>
          <p:nvPr/>
        </p:nvSpPr>
        <p:spPr>
          <a:xfrm>
            <a:off x="371398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02</a:t>
            </a:r>
            <a:endParaRPr lang="en-US" sz="1100" dirty="0">
              <a:latin typeface="Arial" panose="020B0604020202020204" pitchFamily="34" charset="0"/>
              <a:cs typeface="Arial" panose="020B0604020202020204" pitchFamily="34" charset="0"/>
            </a:endParaRPr>
          </a:p>
        </p:txBody>
      </p:sp>
      <p:sp>
        <p:nvSpPr>
          <p:cNvPr id="22" name="Text 18">
            <a:extLst>
              <a:ext uri="{FF2B5EF4-FFF2-40B4-BE49-F238E27FC236}">
                <a16:creationId xmlns:a16="http://schemas.microsoft.com/office/drawing/2014/main" id="{FB745163-4798-5CF1-6148-D526AC2ED29C}"/>
              </a:ext>
            </a:extLst>
          </p:cNvPr>
          <p:cNvSpPr/>
          <p:nvPr/>
        </p:nvSpPr>
        <p:spPr>
          <a:xfrm>
            <a:off x="332994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Launch Orchestrate</a:t>
            </a:r>
            <a:endParaRPr lang="en-US" sz="1050" dirty="0">
              <a:latin typeface="Arial" panose="020B0604020202020204" pitchFamily="34" charset="0"/>
              <a:cs typeface="Arial" panose="020B0604020202020204" pitchFamily="34" charset="0"/>
            </a:endParaRPr>
          </a:p>
        </p:txBody>
      </p:sp>
      <p:sp>
        <p:nvSpPr>
          <p:cNvPr id="23" name="Text 19">
            <a:extLst>
              <a:ext uri="{FF2B5EF4-FFF2-40B4-BE49-F238E27FC236}">
                <a16:creationId xmlns:a16="http://schemas.microsoft.com/office/drawing/2014/main" id="{DB842CCF-2713-E707-B198-2686A3308DB6}"/>
              </a:ext>
            </a:extLst>
          </p:cNvPr>
          <p:cNvSpPr/>
          <p:nvPr/>
        </p:nvSpPr>
        <p:spPr>
          <a:xfrm>
            <a:off x="332994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Lite Plan / Dallas</a:t>
            </a:r>
            <a:endParaRPr lang="en-US" sz="1000" dirty="0">
              <a:latin typeface="Arial" panose="020B0604020202020204" pitchFamily="34" charset="0"/>
              <a:cs typeface="Arial" panose="020B0604020202020204" pitchFamily="34" charset="0"/>
            </a:endParaRPr>
          </a:p>
        </p:txBody>
      </p:sp>
      <p:sp>
        <p:nvSpPr>
          <p:cNvPr id="24" name="Shape 20">
            <a:extLst>
              <a:ext uri="{FF2B5EF4-FFF2-40B4-BE49-F238E27FC236}">
                <a16:creationId xmlns:a16="http://schemas.microsoft.com/office/drawing/2014/main" id="{F1F1A84B-1D10-CE8C-6B6B-76845665B8AA}"/>
              </a:ext>
            </a:extLst>
          </p:cNvPr>
          <p:cNvSpPr/>
          <p:nvPr/>
        </p:nvSpPr>
        <p:spPr>
          <a:xfrm>
            <a:off x="459181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25" name="Text 21">
            <a:extLst>
              <a:ext uri="{FF2B5EF4-FFF2-40B4-BE49-F238E27FC236}">
                <a16:creationId xmlns:a16="http://schemas.microsoft.com/office/drawing/2014/main" id="{E2E006B7-103B-238A-0A61-F5E4C9C58E0F}"/>
              </a:ext>
            </a:extLst>
          </p:cNvPr>
          <p:cNvSpPr/>
          <p:nvPr/>
        </p:nvSpPr>
        <p:spPr>
          <a:xfrm>
            <a:off x="460095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26" name="Shape 22">
            <a:extLst>
              <a:ext uri="{FF2B5EF4-FFF2-40B4-BE49-F238E27FC236}">
                <a16:creationId xmlns:a16="http://schemas.microsoft.com/office/drawing/2014/main" id="{A442C466-393A-324D-CC37-89CF0B3C8ACA}"/>
              </a:ext>
            </a:extLst>
          </p:cNvPr>
          <p:cNvSpPr/>
          <p:nvPr/>
        </p:nvSpPr>
        <p:spPr>
          <a:xfrm>
            <a:off x="475640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27" name="Shape 23">
            <a:extLst>
              <a:ext uri="{FF2B5EF4-FFF2-40B4-BE49-F238E27FC236}">
                <a16:creationId xmlns:a16="http://schemas.microsoft.com/office/drawing/2014/main" id="{59B24CAB-9B4F-1D62-0BC1-501F6E459653}"/>
              </a:ext>
            </a:extLst>
          </p:cNvPr>
          <p:cNvSpPr/>
          <p:nvPr/>
        </p:nvSpPr>
        <p:spPr>
          <a:xfrm>
            <a:off x="517702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28" name="Text 24">
            <a:extLst>
              <a:ext uri="{FF2B5EF4-FFF2-40B4-BE49-F238E27FC236}">
                <a16:creationId xmlns:a16="http://schemas.microsoft.com/office/drawing/2014/main" id="{DB8F8D09-9070-B9A7-05C4-7321ED6045E2}"/>
              </a:ext>
            </a:extLst>
          </p:cNvPr>
          <p:cNvSpPr/>
          <p:nvPr/>
        </p:nvSpPr>
        <p:spPr>
          <a:xfrm>
            <a:off x="517702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03</a:t>
            </a:r>
            <a:endParaRPr lang="en-US" sz="1100" dirty="0">
              <a:latin typeface="Arial" panose="020B0604020202020204" pitchFamily="34" charset="0"/>
              <a:cs typeface="Arial" panose="020B0604020202020204" pitchFamily="34" charset="0"/>
            </a:endParaRPr>
          </a:p>
        </p:txBody>
      </p:sp>
      <p:sp>
        <p:nvSpPr>
          <p:cNvPr id="29" name="Text 25">
            <a:extLst>
              <a:ext uri="{FF2B5EF4-FFF2-40B4-BE49-F238E27FC236}">
                <a16:creationId xmlns:a16="http://schemas.microsoft.com/office/drawing/2014/main" id="{6416EAEB-FFA3-F7D0-C68A-F4E042E9874E}"/>
              </a:ext>
            </a:extLst>
          </p:cNvPr>
          <p:cNvSpPr/>
          <p:nvPr/>
        </p:nvSpPr>
        <p:spPr>
          <a:xfrm>
            <a:off x="479298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Create Agent</a:t>
            </a:r>
            <a:endParaRPr lang="en-US" sz="1050" dirty="0">
              <a:latin typeface="Arial" panose="020B0604020202020204" pitchFamily="34" charset="0"/>
              <a:cs typeface="Arial" panose="020B0604020202020204" pitchFamily="34" charset="0"/>
            </a:endParaRPr>
          </a:p>
        </p:txBody>
      </p:sp>
      <p:sp>
        <p:nvSpPr>
          <p:cNvPr id="30" name="Text 26">
            <a:extLst>
              <a:ext uri="{FF2B5EF4-FFF2-40B4-BE49-F238E27FC236}">
                <a16:creationId xmlns:a16="http://schemas.microsoft.com/office/drawing/2014/main" id="{E9AEACC5-D753-47B4-F11F-3E68B45F2214}"/>
              </a:ext>
            </a:extLst>
          </p:cNvPr>
          <p:cNvSpPr/>
          <p:nvPr/>
        </p:nvSpPr>
        <p:spPr>
          <a:xfrm>
            <a:off x="479298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From Scratch</a:t>
            </a:r>
            <a:endParaRPr lang="en-US" sz="1000" dirty="0">
              <a:latin typeface="Arial" panose="020B0604020202020204" pitchFamily="34" charset="0"/>
              <a:cs typeface="Arial" panose="020B0604020202020204" pitchFamily="34" charset="0"/>
            </a:endParaRPr>
          </a:p>
        </p:txBody>
      </p:sp>
      <p:sp>
        <p:nvSpPr>
          <p:cNvPr id="31" name="Shape 27">
            <a:extLst>
              <a:ext uri="{FF2B5EF4-FFF2-40B4-BE49-F238E27FC236}">
                <a16:creationId xmlns:a16="http://schemas.microsoft.com/office/drawing/2014/main" id="{BAF7682A-FBFD-CFC0-19E7-3A6EC8AE003A}"/>
              </a:ext>
            </a:extLst>
          </p:cNvPr>
          <p:cNvSpPr/>
          <p:nvPr/>
        </p:nvSpPr>
        <p:spPr>
          <a:xfrm>
            <a:off x="605485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32" name="Text 28">
            <a:extLst>
              <a:ext uri="{FF2B5EF4-FFF2-40B4-BE49-F238E27FC236}">
                <a16:creationId xmlns:a16="http://schemas.microsoft.com/office/drawing/2014/main" id="{3A8291AB-065C-C6DC-B2DB-D861FC52B414}"/>
              </a:ext>
            </a:extLst>
          </p:cNvPr>
          <p:cNvSpPr/>
          <p:nvPr/>
        </p:nvSpPr>
        <p:spPr>
          <a:xfrm>
            <a:off x="606399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33" name="Shape 29">
            <a:extLst>
              <a:ext uri="{FF2B5EF4-FFF2-40B4-BE49-F238E27FC236}">
                <a16:creationId xmlns:a16="http://schemas.microsoft.com/office/drawing/2014/main" id="{8098A9D3-933F-103D-CADE-97E0089BB0F2}"/>
              </a:ext>
            </a:extLst>
          </p:cNvPr>
          <p:cNvSpPr/>
          <p:nvPr/>
        </p:nvSpPr>
        <p:spPr>
          <a:xfrm>
            <a:off x="621944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34" name="Shape 30">
            <a:extLst>
              <a:ext uri="{FF2B5EF4-FFF2-40B4-BE49-F238E27FC236}">
                <a16:creationId xmlns:a16="http://schemas.microsoft.com/office/drawing/2014/main" id="{16C6223F-439D-9775-B01F-3260EEE48CB1}"/>
              </a:ext>
            </a:extLst>
          </p:cNvPr>
          <p:cNvSpPr/>
          <p:nvPr/>
        </p:nvSpPr>
        <p:spPr>
          <a:xfrm>
            <a:off x="664006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35" name="Text 31">
            <a:extLst>
              <a:ext uri="{FF2B5EF4-FFF2-40B4-BE49-F238E27FC236}">
                <a16:creationId xmlns:a16="http://schemas.microsoft.com/office/drawing/2014/main" id="{F7B7DE56-FCF0-A61F-4F07-8699BBD5D021}"/>
              </a:ext>
            </a:extLst>
          </p:cNvPr>
          <p:cNvSpPr/>
          <p:nvPr/>
        </p:nvSpPr>
        <p:spPr>
          <a:xfrm>
            <a:off x="664006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04</a:t>
            </a:r>
            <a:endParaRPr lang="en-US" sz="1100" dirty="0">
              <a:latin typeface="Arial" panose="020B0604020202020204" pitchFamily="34" charset="0"/>
              <a:cs typeface="Arial" panose="020B0604020202020204" pitchFamily="34" charset="0"/>
            </a:endParaRPr>
          </a:p>
        </p:txBody>
      </p:sp>
      <p:sp>
        <p:nvSpPr>
          <p:cNvPr id="36" name="Text 32">
            <a:extLst>
              <a:ext uri="{FF2B5EF4-FFF2-40B4-BE49-F238E27FC236}">
                <a16:creationId xmlns:a16="http://schemas.microsoft.com/office/drawing/2014/main" id="{23769566-BF81-2804-41CE-3EB163B6E70C}"/>
              </a:ext>
            </a:extLst>
          </p:cNvPr>
          <p:cNvSpPr/>
          <p:nvPr/>
        </p:nvSpPr>
        <p:spPr>
          <a:xfrm>
            <a:off x="625602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Upload Knowledge</a:t>
            </a:r>
            <a:endParaRPr lang="en-US" sz="1050" dirty="0">
              <a:latin typeface="Arial" panose="020B0604020202020204" pitchFamily="34" charset="0"/>
              <a:cs typeface="Arial" panose="020B0604020202020204" pitchFamily="34" charset="0"/>
            </a:endParaRPr>
          </a:p>
        </p:txBody>
      </p:sp>
      <p:sp>
        <p:nvSpPr>
          <p:cNvPr id="37" name="Text 33">
            <a:extLst>
              <a:ext uri="{FF2B5EF4-FFF2-40B4-BE49-F238E27FC236}">
                <a16:creationId xmlns:a16="http://schemas.microsoft.com/office/drawing/2014/main" id="{7161AB77-E4B9-1D80-0D09-2A004C140775}"/>
              </a:ext>
            </a:extLst>
          </p:cNvPr>
          <p:cNvSpPr/>
          <p:nvPr/>
        </p:nvSpPr>
        <p:spPr>
          <a:xfrm>
            <a:off x="625602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20 Indian Recipes PDF</a:t>
            </a:r>
            <a:endParaRPr lang="en-US" sz="1000" dirty="0">
              <a:latin typeface="Arial" panose="020B0604020202020204" pitchFamily="34" charset="0"/>
              <a:cs typeface="Arial" panose="020B0604020202020204" pitchFamily="34" charset="0"/>
            </a:endParaRPr>
          </a:p>
        </p:txBody>
      </p:sp>
      <p:sp>
        <p:nvSpPr>
          <p:cNvPr id="38" name="Shape 34">
            <a:extLst>
              <a:ext uri="{FF2B5EF4-FFF2-40B4-BE49-F238E27FC236}">
                <a16:creationId xmlns:a16="http://schemas.microsoft.com/office/drawing/2014/main" id="{996DFCF0-B753-C4A7-8D8A-0354B66E43E3}"/>
              </a:ext>
            </a:extLst>
          </p:cNvPr>
          <p:cNvSpPr/>
          <p:nvPr/>
        </p:nvSpPr>
        <p:spPr>
          <a:xfrm>
            <a:off x="751789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39" name="Text 35">
            <a:extLst>
              <a:ext uri="{FF2B5EF4-FFF2-40B4-BE49-F238E27FC236}">
                <a16:creationId xmlns:a16="http://schemas.microsoft.com/office/drawing/2014/main" id="{AB3AEFB2-EFBF-8764-2806-989B8240C21F}"/>
              </a:ext>
            </a:extLst>
          </p:cNvPr>
          <p:cNvSpPr/>
          <p:nvPr/>
        </p:nvSpPr>
        <p:spPr>
          <a:xfrm>
            <a:off x="752703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40" name="Shape 36">
            <a:extLst>
              <a:ext uri="{FF2B5EF4-FFF2-40B4-BE49-F238E27FC236}">
                <a16:creationId xmlns:a16="http://schemas.microsoft.com/office/drawing/2014/main" id="{422786EE-6E00-5B00-5462-B41394F925A4}"/>
              </a:ext>
            </a:extLst>
          </p:cNvPr>
          <p:cNvSpPr/>
          <p:nvPr/>
        </p:nvSpPr>
        <p:spPr>
          <a:xfrm>
            <a:off x="768248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41" name="Shape 37">
            <a:extLst>
              <a:ext uri="{FF2B5EF4-FFF2-40B4-BE49-F238E27FC236}">
                <a16:creationId xmlns:a16="http://schemas.microsoft.com/office/drawing/2014/main" id="{2A6EDB29-C3A2-2C1D-13E3-61208389AE66}"/>
              </a:ext>
            </a:extLst>
          </p:cNvPr>
          <p:cNvSpPr/>
          <p:nvPr/>
        </p:nvSpPr>
        <p:spPr>
          <a:xfrm>
            <a:off x="810310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42" name="Text 38">
            <a:extLst>
              <a:ext uri="{FF2B5EF4-FFF2-40B4-BE49-F238E27FC236}">
                <a16:creationId xmlns:a16="http://schemas.microsoft.com/office/drawing/2014/main" id="{5DF50BA0-2C5F-931B-A93D-23C5920EA070}"/>
              </a:ext>
            </a:extLst>
          </p:cNvPr>
          <p:cNvSpPr/>
          <p:nvPr/>
        </p:nvSpPr>
        <p:spPr>
          <a:xfrm>
            <a:off x="810310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05</a:t>
            </a:r>
            <a:endParaRPr lang="en-US" sz="1100" dirty="0">
              <a:latin typeface="Arial" panose="020B0604020202020204" pitchFamily="34" charset="0"/>
              <a:cs typeface="Arial" panose="020B0604020202020204" pitchFamily="34" charset="0"/>
            </a:endParaRPr>
          </a:p>
        </p:txBody>
      </p:sp>
      <p:sp>
        <p:nvSpPr>
          <p:cNvPr id="43" name="Text 39">
            <a:extLst>
              <a:ext uri="{FF2B5EF4-FFF2-40B4-BE49-F238E27FC236}">
                <a16:creationId xmlns:a16="http://schemas.microsoft.com/office/drawing/2014/main" id="{C1703054-55B6-CE34-5703-5243092B19CA}"/>
              </a:ext>
            </a:extLst>
          </p:cNvPr>
          <p:cNvSpPr/>
          <p:nvPr/>
        </p:nvSpPr>
        <p:spPr>
          <a:xfrm>
            <a:off x="771906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Configure Behavior</a:t>
            </a:r>
            <a:endParaRPr lang="en-US" sz="1050" dirty="0">
              <a:latin typeface="Arial" panose="020B0604020202020204" pitchFamily="34" charset="0"/>
              <a:cs typeface="Arial" panose="020B0604020202020204" pitchFamily="34" charset="0"/>
            </a:endParaRPr>
          </a:p>
        </p:txBody>
      </p:sp>
      <p:sp>
        <p:nvSpPr>
          <p:cNvPr id="44" name="Text 40">
            <a:extLst>
              <a:ext uri="{FF2B5EF4-FFF2-40B4-BE49-F238E27FC236}">
                <a16:creationId xmlns:a16="http://schemas.microsoft.com/office/drawing/2014/main" id="{F8A55D11-2A79-4FDE-52F3-173B9F8DD0F6}"/>
              </a:ext>
            </a:extLst>
          </p:cNvPr>
          <p:cNvSpPr/>
          <p:nvPr/>
        </p:nvSpPr>
        <p:spPr>
          <a:xfrm>
            <a:off x="771906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System Prompt + ReAct</a:t>
            </a:r>
            <a:endParaRPr lang="en-US" sz="1000" dirty="0">
              <a:latin typeface="Arial" panose="020B0604020202020204" pitchFamily="34" charset="0"/>
              <a:cs typeface="Arial" panose="020B0604020202020204" pitchFamily="34" charset="0"/>
            </a:endParaRPr>
          </a:p>
        </p:txBody>
      </p:sp>
      <p:sp>
        <p:nvSpPr>
          <p:cNvPr id="45" name="Shape 41">
            <a:extLst>
              <a:ext uri="{FF2B5EF4-FFF2-40B4-BE49-F238E27FC236}">
                <a16:creationId xmlns:a16="http://schemas.microsoft.com/office/drawing/2014/main" id="{19F45034-C9A6-8335-3422-6325C3F526AF}"/>
              </a:ext>
            </a:extLst>
          </p:cNvPr>
          <p:cNvSpPr/>
          <p:nvPr/>
        </p:nvSpPr>
        <p:spPr>
          <a:xfrm>
            <a:off x="898093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46" name="Text 42">
            <a:extLst>
              <a:ext uri="{FF2B5EF4-FFF2-40B4-BE49-F238E27FC236}">
                <a16:creationId xmlns:a16="http://schemas.microsoft.com/office/drawing/2014/main" id="{3EC9A330-C003-56FE-F4EB-C8F799B0CE4D}"/>
              </a:ext>
            </a:extLst>
          </p:cNvPr>
          <p:cNvSpPr/>
          <p:nvPr/>
        </p:nvSpPr>
        <p:spPr>
          <a:xfrm>
            <a:off x="899007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47" name="Shape 43">
            <a:extLst>
              <a:ext uri="{FF2B5EF4-FFF2-40B4-BE49-F238E27FC236}">
                <a16:creationId xmlns:a16="http://schemas.microsoft.com/office/drawing/2014/main" id="{00DFE366-179B-ECBA-A04B-90CB88453F27}"/>
              </a:ext>
            </a:extLst>
          </p:cNvPr>
          <p:cNvSpPr/>
          <p:nvPr/>
        </p:nvSpPr>
        <p:spPr>
          <a:xfrm>
            <a:off x="914552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48" name="Shape 44">
            <a:extLst>
              <a:ext uri="{FF2B5EF4-FFF2-40B4-BE49-F238E27FC236}">
                <a16:creationId xmlns:a16="http://schemas.microsoft.com/office/drawing/2014/main" id="{17F936BA-A9E7-B354-CC17-8DBC97C1F5DA}"/>
              </a:ext>
            </a:extLst>
          </p:cNvPr>
          <p:cNvSpPr/>
          <p:nvPr/>
        </p:nvSpPr>
        <p:spPr>
          <a:xfrm>
            <a:off x="956614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49" name="Text 45">
            <a:extLst>
              <a:ext uri="{FF2B5EF4-FFF2-40B4-BE49-F238E27FC236}">
                <a16:creationId xmlns:a16="http://schemas.microsoft.com/office/drawing/2014/main" id="{989787B8-F422-D139-0E5D-1B9EB6220F0C}"/>
              </a:ext>
            </a:extLst>
          </p:cNvPr>
          <p:cNvSpPr/>
          <p:nvPr/>
        </p:nvSpPr>
        <p:spPr>
          <a:xfrm>
            <a:off x="956614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06</a:t>
            </a:r>
            <a:endParaRPr lang="en-US" sz="1100" dirty="0">
              <a:latin typeface="Arial" panose="020B0604020202020204" pitchFamily="34" charset="0"/>
              <a:cs typeface="Arial" panose="020B0604020202020204" pitchFamily="34" charset="0"/>
            </a:endParaRPr>
          </a:p>
        </p:txBody>
      </p:sp>
      <p:sp>
        <p:nvSpPr>
          <p:cNvPr id="50" name="Text 46">
            <a:extLst>
              <a:ext uri="{FF2B5EF4-FFF2-40B4-BE49-F238E27FC236}">
                <a16:creationId xmlns:a16="http://schemas.microsoft.com/office/drawing/2014/main" id="{28FF8D1C-D638-9378-1C48-A454A2F26012}"/>
              </a:ext>
            </a:extLst>
          </p:cNvPr>
          <p:cNvSpPr/>
          <p:nvPr/>
        </p:nvSpPr>
        <p:spPr>
          <a:xfrm>
            <a:off x="918210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Test &amp; Deploy</a:t>
            </a:r>
            <a:endParaRPr lang="en-US" sz="1050" dirty="0">
              <a:latin typeface="Arial" panose="020B0604020202020204" pitchFamily="34" charset="0"/>
              <a:cs typeface="Arial" panose="020B0604020202020204" pitchFamily="34" charset="0"/>
            </a:endParaRPr>
          </a:p>
        </p:txBody>
      </p:sp>
      <p:sp>
        <p:nvSpPr>
          <p:cNvPr id="51" name="Text 47">
            <a:extLst>
              <a:ext uri="{FF2B5EF4-FFF2-40B4-BE49-F238E27FC236}">
                <a16:creationId xmlns:a16="http://schemas.microsoft.com/office/drawing/2014/main" id="{E8CDB847-9A6B-EDB1-8477-4EF17E7C0D17}"/>
              </a:ext>
            </a:extLst>
          </p:cNvPr>
          <p:cNvSpPr/>
          <p:nvPr/>
        </p:nvSpPr>
        <p:spPr>
          <a:xfrm>
            <a:off x="918210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Query → Response</a:t>
            </a:r>
            <a:endParaRPr lang="en-US" sz="1000" dirty="0">
              <a:latin typeface="Arial" panose="020B0604020202020204" pitchFamily="34" charset="0"/>
              <a:cs typeface="Arial" panose="020B0604020202020204" pitchFamily="34" charset="0"/>
            </a:endParaRPr>
          </a:p>
        </p:txBody>
      </p:sp>
      <p:sp>
        <p:nvSpPr>
          <p:cNvPr id="53" name="Text 49">
            <a:extLst>
              <a:ext uri="{FF2B5EF4-FFF2-40B4-BE49-F238E27FC236}">
                <a16:creationId xmlns:a16="http://schemas.microsoft.com/office/drawing/2014/main" id="{87ADCA78-C09E-DC33-4EBC-4F8124475677}"/>
              </a:ext>
            </a:extLst>
          </p:cNvPr>
          <p:cNvSpPr/>
          <p:nvPr/>
        </p:nvSpPr>
        <p:spPr>
          <a:xfrm>
            <a:off x="1688592" y="3172968"/>
            <a:ext cx="9055608"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1A1A1A"/>
                </a:solidFill>
                <a:latin typeface="Arial" panose="020B0604020202020204" pitchFamily="34" charset="0"/>
                <a:ea typeface="Calibri" pitchFamily="34" charset="-122"/>
                <a:cs typeface="Arial" panose="020B0604020202020204" pitchFamily="34" charset="0"/>
              </a:rPr>
              <a:t>Full 20-step implementation: IBM Cloud → watsonx Orchestrate → Create Agent → Knowledge Base Upload → Behavior Prompt → ReAct Style → Test Queries → Deploy</a:t>
            </a:r>
            <a:endParaRPr lang="en-US" sz="1600" dirty="0">
              <a:latin typeface="Arial" panose="020B0604020202020204" pitchFamily="34" charset="0"/>
              <a:cs typeface="Arial" panose="020B0604020202020204" pitchFamily="34" charset="0"/>
            </a:endParaRPr>
          </a:p>
        </p:txBody>
      </p:sp>
      <p:sp>
        <p:nvSpPr>
          <p:cNvPr id="54" name="Shape 50">
            <a:extLst>
              <a:ext uri="{FF2B5EF4-FFF2-40B4-BE49-F238E27FC236}">
                <a16:creationId xmlns:a16="http://schemas.microsoft.com/office/drawing/2014/main" id="{0218E86A-D8F2-E632-F6BD-6DA73B9CC126}"/>
              </a:ext>
            </a:extLst>
          </p:cNvPr>
          <p:cNvSpPr/>
          <p:nvPr/>
        </p:nvSpPr>
        <p:spPr>
          <a:xfrm>
            <a:off x="2072640" y="4407408"/>
            <a:ext cx="1737360" cy="594360"/>
          </a:xfrm>
          <a:prstGeom prst="rect">
            <a:avLst/>
          </a:prstGeom>
          <a:solidFill>
            <a:srgbClr val="0D6E8A"/>
          </a:solidFill>
          <a:ln w="12700">
            <a:solidFill>
              <a:srgbClr val="0D6E8A"/>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55" name="Text 51">
            <a:extLst>
              <a:ext uri="{FF2B5EF4-FFF2-40B4-BE49-F238E27FC236}">
                <a16:creationId xmlns:a16="http://schemas.microsoft.com/office/drawing/2014/main" id="{75080A1D-6F99-86C1-9680-EEA1899A7197}"/>
              </a:ext>
            </a:extLst>
          </p:cNvPr>
          <p:cNvSpPr/>
          <p:nvPr/>
        </p:nvSpPr>
        <p:spPr>
          <a:xfrm>
            <a:off x="207264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User Query</a:t>
            </a:r>
            <a:endParaRPr lang="en-US" sz="1400" dirty="0">
              <a:latin typeface="Arial" panose="020B0604020202020204" pitchFamily="34" charset="0"/>
              <a:cs typeface="Arial" panose="020B0604020202020204" pitchFamily="34" charset="0"/>
            </a:endParaRPr>
          </a:p>
        </p:txBody>
      </p:sp>
      <p:sp>
        <p:nvSpPr>
          <p:cNvPr id="56" name="Text 52">
            <a:extLst>
              <a:ext uri="{FF2B5EF4-FFF2-40B4-BE49-F238E27FC236}">
                <a16:creationId xmlns:a16="http://schemas.microsoft.com/office/drawing/2014/main" id="{B2446000-7A9B-DF5B-41AD-318471A75640}"/>
              </a:ext>
            </a:extLst>
          </p:cNvPr>
          <p:cNvSpPr/>
          <p:nvPr/>
        </p:nvSpPr>
        <p:spPr>
          <a:xfrm>
            <a:off x="3810000" y="4425696"/>
            <a:ext cx="3657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E07B00"/>
                </a:solidFill>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57" name="Shape 53">
            <a:extLst>
              <a:ext uri="{FF2B5EF4-FFF2-40B4-BE49-F238E27FC236}">
                <a16:creationId xmlns:a16="http://schemas.microsoft.com/office/drawing/2014/main" id="{F00E89C6-5E4E-0360-3D3E-99A7ADD733C3}"/>
              </a:ext>
            </a:extLst>
          </p:cNvPr>
          <p:cNvSpPr/>
          <p:nvPr/>
        </p:nvSpPr>
        <p:spPr>
          <a:xfrm>
            <a:off x="4175760" y="4407408"/>
            <a:ext cx="1737360" cy="594360"/>
          </a:xfrm>
          <a:prstGeom prst="rect">
            <a:avLst/>
          </a:prstGeom>
          <a:solidFill>
            <a:srgbClr val="1A2F5E"/>
          </a:solidFill>
          <a:ln w="12700">
            <a:solidFill>
              <a:srgbClr val="1A2F5E"/>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58" name="Text 54">
            <a:extLst>
              <a:ext uri="{FF2B5EF4-FFF2-40B4-BE49-F238E27FC236}">
                <a16:creationId xmlns:a16="http://schemas.microsoft.com/office/drawing/2014/main" id="{D70316F2-C6C4-24CC-ACD9-3D72145587C5}"/>
              </a:ext>
            </a:extLst>
          </p:cNvPr>
          <p:cNvSpPr/>
          <p:nvPr/>
        </p:nvSpPr>
        <p:spPr>
          <a:xfrm>
            <a:off x="417576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ReAct Agent</a:t>
            </a:r>
            <a:endParaRPr lang="en-US" sz="1400" dirty="0">
              <a:latin typeface="Arial" panose="020B0604020202020204" pitchFamily="34" charset="0"/>
              <a:cs typeface="Arial" panose="020B0604020202020204" pitchFamily="34" charset="0"/>
            </a:endParaRPr>
          </a:p>
        </p:txBody>
      </p:sp>
      <p:sp>
        <p:nvSpPr>
          <p:cNvPr id="59" name="Text 55">
            <a:extLst>
              <a:ext uri="{FF2B5EF4-FFF2-40B4-BE49-F238E27FC236}">
                <a16:creationId xmlns:a16="http://schemas.microsoft.com/office/drawing/2014/main" id="{D02407A8-293E-5213-8685-EAD927C38AE2}"/>
              </a:ext>
            </a:extLst>
          </p:cNvPr>
          <p:cNvSpPr/>
          <p:nvPr/>
        </p:nvSpPr>
        <p:spPr>
          <a:xfrm>
            <a:off x="5913120" y="4425696"/>
            <a:ext cx="3657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E07B00"/>
                </a:solidFill>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60" name="Shape 56">
            <a:extLst>
              <a:ext uri="{FF2B5EF4-FFF2-40B4-BE49-F238E27FC236}">
                <a16:creationId xmlns:a16="http://schemas.microsoft.com/office/drawing/2014/main" id="{9AA50E54-0495-4EC3-6D30-A3A643153EAF}"/>
              </a:ext>
            </a:extLst>
          </p:cNvPr>
          <p:cNvSpPr/>
          <p:nvPr/>
        </p:nvSpPr>
        <p:spPr>
          <a:xfrm>
            <a:off x="6278880" y="4407408"/>
            <a:ext cx="1737360" cy="594360"/>
          </a:xfrm>
          <a:prstGeom prst="rect">
            <a:avLst/>
          </a:prstGeom>
          <a:solidFill>
            <a:srgbClr val="E07B00"/>
          </a:solidFill>
          <a:ln w="12700">
            <a:solidFill>
              <a:srgbClr val="E07B00"/>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1" name="Text 57">
            <a:extLst>
              <a:ext uri="{FF2B5EF4-FFF2-40B4-BE49-F238E27FC236}">
                <a16:creationId xmlns:a16="http://schemas.microsoft.com/office/drawing/2014/main" id="{FF0623B2-559A-982A-B3A6-5BA9A891E922}"/>
              </a:ext>
            </a:extLst>
          </p:cNvPr>
          <p:cNvSpPr/>
          <p:nvPr/>
        </p:nvSpPr>
        <p:spPr>
          <a:xfrm>
            <a:off x="627888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Knowledge Base</a:t>
            </a:r>
            <a:endParaRPr lang="en-US" sz="1400" dirty="0">
              <a:latin typeface="Arial" panose="020B0604020202020204" pitchFamily="34" charset="0"/>
              <a:cs typeface="Arial" panose="020B0604020202020204" pitchFamily="34" charset="0"/>
            </a:endParaRPr>
          </a:p>
        </p:txBody>
      </p:sp>
      <p:sp>
        <p:nvSpPr>
          <p:cNvPr id="62" name="Text 58">
            <a:extLst>
              <a:ext uri="{FF2B5EF4-FFF2-40B4-BE49-F238E27FC236}">
                <a16:creationId xmlns:a16="http://schemas.microsoft.com/office/drawing/2014/main" id="{EE157259-5FBE-B700-C1BE-ABFF350C0DA6}"/>
              </a:ext>
            </a:extLst>
          </p:cNvPr>
          <p:cNvSpPr/>
          <p:nvPr/>
        </p:nvSpPr>
        <p:spPr>
          <a:xfrm>
            <a:off x="8016240" y="4425696"/>
            <a:ext cx="3657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E07B00"/>
                </a:solidFill>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63" name="Shape 59">
            <a:extLst>
              <a:ext uri="{FF2B5EF4-FFF2-40B4-BE49-F238E27FC236}">
                <a16:creationId xmlns:a16="http://schemas.microsoft.com/office/drawing/2014/main" id="{F3A00F76-5C07-39EA-7E0C-8164D9546CBC}"/>
              </a:ext>
            </a:extLst>
          </p:cNvPr>
          <p:cNvSpPr/>
          <p:nvPr/>
        </p:nvSpPr>
        <p:spPr>
          <a:xfrm>
            <a:off x="8382000" y="4407408"/>
            <a:ext cx="1737360" cy="594360"/>
          </a:xfrm>
          <a:prstGeom prst="rect">
            <a:avLst/>
          </a:prstGeom>
          <a:solidFill>
            <a:srgbClr val="2E7D32"/>
          </a:solidFill>
          <a:ln w="12700">
            <a:solidFill>
              <a:srgbClr val="2E7D32"/>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4" name="Text 60">
            <a:extLst>
              <a:ext uri="{FF2B5EF4-FFF2-40B4-BE49-F238E27FC236}">
                <a16:creationId xmlns:a16="http://schemas.microsoft.com/office/drawing/2014/main" id="{62BEE688-9253-D55F-2561-19FB01F54B6C}"/>
              </a:ext>
            </a:extLst>
          </p:cNvPr>
          <p:cNvSpPr/>
          <p:nvPr/>
        </p:nvSpPr>
        <p:spPr>
          <a:xfrm>
            <a:off x="838200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Recipe Response</a:t>
            </a:r>
            <a:endParaRPr lang="en-US" sz="1400" dirty="0">
              <a:latin typeface="Arial" panose="020B0604020202020204" pitchFamily="34" charset="0"/>
              <a:cs typeface="Arial" panose="020B0604020202020204" pitchFamily="34" charset="0"/>
            </a:endParaRPr>
          </a:p>
        </p:txBody>
      </p:sp>
      <p:sp>
        <p:nvSpPr>
          <p:cNvPr id="65" name="Text 61">
            <a:extLst>
              <a:ext uri="{FF2B5EF4-FFF2-40B4-BE49-F238E27FC236}">
                <a16:creationId xmlns:a16="http://schemas.microsoft.com/office/drawing/2014/main" id="{5907293B-E04D-D16F-293F-B096784BDB0A}"/>
              </a:ext>
            </a:extLst>
          </p:cNvPr>
          <p:cNvSpPr/>
          <p:nvPr/>
        </p:nvSpPr>
        <p:spPr>
          <a:xfrm>
            <a:off x="1798320" y="5184648"/>
            <a:ext cx="859536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i="1" dirty="0">
                <a:latin typeface="Arial" panose="020B0604020202020204" pitchFamily="34" charset="0"/>
                <a:ea typeface="Calibri" pitchFamily="34" charset="-122"/>
                <a:cs typeface="Arial" panose="020B0604020202020204" pitchFamily="34" charset="0"/>
              </a:rPr>
              <a:t>Query Processing Flow</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1387821" y="876826"/>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Arial" panose="020B0604020202020204" pitchFamily="34" charset="0"/>
                <a:ea typeface="Calibri"/>
                <a:cs typeface="Arial" panose="020B0604020202020204" pitchFamily="34" charset="0"/>
                <a:sym typeface="Calibri"/>
              </a:rPr>
              <a:t>Architecture blueprint</a:t>
            </a:r>
            <a:endParaRPr lang="en-US" sz="2400" dirty="0">
              <a:latin typeface="Arial" panose="020B0604020202020204" pitchFamily="34" charset="0"/>
              <a:cs typeface="Arial" panose="020B0604020202020204" pitchFamily="34" charset="0"/>
            </a:endParaRPr>
          </a:p>
        </p:txBody>
      </p:sp>
      <p:sp>
        <p:nvSpPr>
          <p:cNvPr id="11" name="Shape 8">
            <a:extLst>
              <a:ext uri="{FF2B5EF4-FFF2-40B4-BE49-F238E27FC236}">
                <a16:creationId xmlns:a16="http://schemas.microsoft.com/office/drawing/2014/main" id="{364FC847-6AF0-8F3F-C01C-4971FBA96B6A}"/>
              </a:ext>
            </a:extLst>
          </p:cNvPr>
          <p:cNvSpPr/>
          <p:nvPr/>
        </p:nvSpPr>
        <p:spPr>
          <a:xfrm>
            <a:off x="1539882" y="2011360"/>
            <a:ext cx="1920240" cy="3291840"/>
          </a:xfrm>
          <a:prstGeom prst="rect">
            <a:avLst/>
          </a:prstGeom>
          <a:solidFill>
            <a:srgbClr val="0D6E8A"/>
          </a:solidFill>
          <a:ln w="12700">
            <a:solidFill>
              <a:srgbClr val="0D6E8A"/>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12" name="Text 9">
            <a:extLst>
              <a:ext uri="{FF2B5EF4-FFF2-40B4-BE49-F238E27FC236}">
                <a16:creationId xmlns:a16="http://schemas.microsoft.com/office/drawing/2014/main" id="{3AA2B080-0D2C-FC70-F0B3-2D2CAE31E7A3}"/>
              </a:ext>
            </a:extLst>
          </p:cNvPr>
          <p:cNvSpPr/>
          <p:nvPr/>
        </p:nvSpPr>
        <p:spPr>
          <a:xfrm>
            <a:off x="1585602"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USER INTERFACE LAYER</a:t>
            </a:r>
            <a:endParaRPr lang="en-US" sz="1100" dirty="0">
              <a:latin typeface="Arial" panose="020B0604020202020204" pitchFamily="34" charset="0"/>
              <a:cs typeface="Arial" panose="020B0604020202020204" pitchFamily="34" charset="0"/>
            </a:endParaRPr>
          </a:p>
        </p:txBody>
      </p:sp>
      <p:sp>
        <p:nvSpPr>
          <p:cNvPr id="13" name="Shape 10">
            <a:extLst>
              <a:ext uri="{FF2B5EF4-FFF2-40B4-BE49-F238E27FC236}">
                <a16:creationId xmlns:a16="http://schemas.microsoft.com/office/drawing/2014/main" id="{2D569C93-D0B7-E1E8-72EB-23F657F65E56}"/>
              </a:ext>
            </a:extLst>
          </p:cNvPr>
          <p:cNvSpPr/>
          <p:nvPr/>
        </p:nvSpPr>
        <p:spPr>
          <a:xfrm>
            <a:off x="1585602"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14" name="Shape 11">
            <a:extLst>
              <a:ext uri="{FF2B5EF4-FFF2-40B4-BE49-F238E27FC236}">
                <a16:creationId xmlns:a16="http://schemas.microsoft.com/office/drawing/2014/main" id="{0423F4B8-C430-2FFD-D9C0-EEF01B5B1109}"/>
              </a:ext>
            </a:extLst>
          </p:cNvPr>
          <p:cNvSpPr/>
          <p:nvPr/>
        </p:nvSpPr>
        <p:spPr>
          <a:xfrm>
            <a:off x="1631322"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dirty="0">
              <a:solidFill>
                <a:schemeClr val="tx1"/>
              </a:solidFill>
              <a:latin typeface="Arial" panose="020B0604020202020204" pitchFamily="34" charset="0"/>
              <a:cs typeface="Arial" panose="020B0604020202020204" pitchFamily="34" charset="0"/>
            </a:endParaRPr>
          </a:p>
        </p:txBody>
      </p:sp>
      <p:sp>
        <p:nvSpPr>
          <p:cNvPr id="15" name="Text 12">
            <a:extLst>
              <a:ext uri="{FF2B5EF4-FFF2-40B4-BE49-F238E27FC236}">
                <a16:creationId xmlns:a16="http://schemas.microsoft.com/office/drawing/2014/main" id="{00F19396-9E42-24C0-2779-23428F6259F3}"/>
              </a:ext>
            </a:extLst>
          </p:cNvPr>
          <p:cNvSpPr/>
          <p:nvPr/>
        </p:nvSpPr>
        <p:spPr>
          <a:xfrm>
            <a:off x="1631322"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IBM watsonx Orchestrate Chat UI</a:t>
            </a:r>
            <a:endParaRPr lang="en-US" sz="1100" dirty="0">
              <a:latin typeface="Arial" panose="020B0604020202020204" pitchFamily="34" charset="0"/>
              <a:cs typeface="Arial" panose="020B0604020202020204" pitchFamily="34" charset="0"/>
            </a:endParaRPr>
          </a:p>
        </p:txBody>
      </p:sp>
      <p:sp>
        <p:nvSpPr>
          <p:cNvPr id="16" name="Shape 13">
            <a:extLst>
              <a:ext uri="{FF2B5EF4-FFF2-40B4-BE49-F238E27FC236}">
                <a16:creationId xmlns:a16="http://schemas.microsoft.com/office/drawing/2014/main" id="{12380CB3-8D35-2DFB-15A3-E7536E601A9E}"/>
              </a:ext>
            </a:extLst>
          </p:cNvPr>
          <p:cNvSpPr/>
          <p:nvPr/>
        </p:nvSpPr>
        <p:spPr>
          <a:xfrm>
            <a:off x="1631322"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dirty="0">
              <a:solidFill>
                <a:schemeClr val="tx1"/>
              </a:solidFill>
              <a:latin typeface="Arial" panose="020B0604020202020204" pitchFamily="34" charset="0"/>
              <a:cs typeface="Arial" panose="020B0604020202020204" pitchFamily="34" charset="0"/>
            </a:endParaRPr>
          </a:p>
        </p:txBody>
      </p:sp>
      <p:sp>
        <p:nvSpPr>
          <p:cNvPr id="17" name="Text 14">
            <a:extLst>
              <a:ext uri="{FF2B5EF4-FFF2-40B4-BE49-F238E27FC236}">
                <a16:creationId xmlns:a16="http://schemas.microsoft.com/office/drawing/2014/main" id="{03605E46-999D-AA21-9A7F-D47721EF3054}"/>
              </a:ext>
            </a:extLst>
          </p:cNvPr>
          <p:cNvSpPr/>
          <p:nvPr/>
        </p:nvSpPr>
        <p:spPr>
          <a:xfrm>
            <a:off x="1631322"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Web / Mobile Browser</a:t>
            </a:r>
            <a:endParaRPr lang="en-US" sz="1100" dirty="0">
              <a:latin typeface="Arial" panose="020B0604020202020204" pitchFamily="34" charset="0"/>
              <a:cs typeface="Arial" panose="020B0604020202020204" pitchFamily="34" charset="0"/>
            </a:endParaRPr>
          </a:p>
        </p:txBody>
      </p:sp>
      <p:sp>
        <p:nvSpPr>
          <p:cNvPr id="18" name="Shape 15">
            <a:extLst>
              <a:ext uri="{FF2B5EF4-FFF2-40B4-BE49-F238E27FC236}">
                <a16:creationId xmlns:a16="http://schemas.microsoft.com/office/drawing/2014/main" id="{860116EF-FDF6-44A9-0955-22C4F17167B9}"/>
              </a:ext>
            </a:extLst>
          </p:cNvPr>
          <p:cNvSpPr/>
          <p:nvPr/>
        </p:nvSpPr>
        <p:spPr>
          <a:xfrm>
            <a:off x="1622635" y="4297360"/>
            <a:ext cx="1754734"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19" name="Text 16">
            <a:extLst>
              <a:ext uri="{FF2B5EF4-FFF2-40B4-BE49-F238E27FC236}">
                <a16:creationId xmlns:a16="http://schemas.microsoft.com/office/drawing/2014/main" id="{2BA07D84-ECD7-2935-C64A-85E10427E11A}"/>
              </a:ext>
            </a:extLst>
          </p:cNvPr>
          <p:cNvSpPr/>
          <p:nvPr/>
        </p:nvSpPr>
        <p:spPr>
          <a:xfrm>
            <a:off x="1631322"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Slack / Teams Channel (Preview)</a:t>
            </a:r>
            <a:endParaRPr lang="en-US" sz="1100" dirty="0">
              <a:latin typeface="Arial" panose="020B0604020202020204" pitchFamily="34" charset="0"/>
              <a:cs typeface="Arial" panose="020B0604020202020204" pitchFamily="34" charset="0"/>
            </a:endParaRPr>
          </a:p>
        </p:txBody>
      </p:sp>
      <p:sp>
        <p:nvSpPr>
          <p:cNvPr id="20" name="Shape 17">
            <a:extLst>
              <a:ext uri="{FF2B5EF4-FFF2-40B4-BE49-F238E27FC236}">
                <a16:creationId xmlns:a16="http://schemas.microsoft.com/office/drawing/2014/main" id="{051706BC-B251-DDBB-69D1-066B3EE49990}"/>
              </a:ext>
            </a:extLst>
          </p:cNvPr>
          <p:cNvSpPr/>
          <p:nvPr/>
        </p:nvSpPr>
        <p:spPr>
          <a:xfrm>
            <a:off x="3873848" y="2011360"/>
            <a:ext cx="1920240" cy="3291840"/>
          </a:xfrm>
          <a:prstGeom prst="rect">
            <a:avLst/>
          </a:prstGeom>
          <a:solidFill>
            <a:srgbClr val="1A2F5E"/>
          </a:solidFill>
          <a:ln w="12700">
            <a:solidFill>
              <a:srgbClr val="1A2F5E"/>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1" name="Text 18">
            <a:extLst>
              <a:ext uri="{FF2B5EF4-FFF2-40B4-BE49-F238E27FC236}">
                <a16:creationId xmlns:a16="http://schemas.microsoft.com/office/drawing/2014/main" id="{3CE131C1-4B44-B1E8-2DFF-30399E7A07D5}"/>
              </a:ext>
            </a:extLst>
          </p:cNvPr>
          <p:cNvSpPr/>
          <p:nvPr/>
        </p:nvSpPr>
        <p:spPr>
          <a:xfrm>
            <a:off x="3919568"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AGENT INTELLIGENCE LAYER</a:t>
            </a:r>
            <a:endParaRPr lang="en-US" sz="1100" dirty="0">
              <a:latin typeface="Arial" panose="020B0604020202020204" pitchFamily="34" charset="0"/>
              <a:cs typeface="Arial" panose="020B0604020202020204" pitchFamily="34" charset="0"/>
            </a:endParaRPr>
          </a:p>
        </p:txBody>
      </p:sp>
      <p:sp>
        <p:nvSpPr>
          <p:cNvPr id="22" name="Shape 19">
            <a:extLst>
              <a:ext uri="{FF2B5EF4-FFF2-40B4-BE49-F238E27FC236}">
                <a16:creationId xmlns:a16="http://schemas.microsoft.com/office/drawing/2014/main" id="{DBDA3B82-6483-4F3F-BD87-07F1561AA926}"/>
              </a:ext>
            </a:extLst>
          </p:cNvPr>
          <p:cNvSpPr/>
          <p:nvPr/>
        </p:nvSpPr>
        <p:spPr>
          <a:xfrm>
            <a:off x="3919568"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3" name="Shape 20">
            <a:extLst>
              <a:ext uri="{FF2B5EF4-FFF2-40B4-BE49-F238E27FC236}">
                <a16:creationId xmlns:a16="http://schemas.microsoft.com/office/drawing/2014/main" id="{4420AB52-FF51-9134-6239-0363AADBDA7B}"/>
              </a:ext>
            </a:extLst>
          </p:cNvPr>
          <p:cNvSpPr/>
          <p:nvPr/>
        </p:nvSpPr>
        <p:spPr>
          <a:xfrm>
            <a:off x="3965288"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dirty="0">
              <a:solidFill>
                <a:schemeClr val="tx1"/>
              </a:solidFill>
              <a:latin typeface="Arial" panose="020B0604020202020204" pitchFamily="34" charset="0"/>
              <a:cs typeface="Arial" panose="020B0604020202020204" pitchFamily="34" charset="0"/>
            </a:endParaRPr>
          </a:p>
        </p:txBody>
      </p:sp>
      <p:sp>
        <p:nvSpPr>
          <p:cNvPr id="24" name="Text 21">
            <a:extLst>
              <a:ext uri="{FF2B5EF4-FFF2-40B4-BE49-F238E27FC236}">
                <a16:creationId xmlns:a16="http://schemas.microsoft.com/office/drawing/2014/main" id="{13B1BF6F-DC0C-F2A6-2FE5-37838251BB14}"/>
              </a:ext>
            </a:extLst>
          </p:cNvPr>
          <p:cNvSpPr/>
          <p:nvPr/>
        </p:nvSpPr>
        <p:spPr>
          <a:xfrm>
            <a:off x="3965288"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ReAct Agent (Reasoning + Acting)</a:t>
            </a:r>
            <a:endParaRPr lang="en-US" sz="1100" dirty="0">
              <a:latin typeface="Arial" panose="020B0604020202020204" pitchFamily="34" charset="0"/>
              <a:cs typeface="Arial" panose="020B0604020202020204" pitchFamily="34" charset="0"/>
            </a:endParaRPr>
          </a:p>
        </p:txBody>
      </p:sp>
      <p:sp>
        <p:nvSpPr>
          <p:cNvPr id="25" name="Shape 22">
            <a:extLst>
              <a:ext uri="{FF2B5EF4-FFF2-40B4-BE49-F238E27FC236}">
                <a16:creationId xmlns:a16="http://schemas.microsoft.com/office/drawing/2014/main" id="{48042111-AEE7-C879-5B5E-59226B2D5C4D}"/>
              </a:ext>
            </a:extLst>
          </p:cNvPr>
          <p:cNvSpPr/>
          <p:nvPr/>
        </p:nvSpPr>
        <p:spPr>
          <a:xfrm>
            <a:off x="3965288"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6" name="Text 23">
            <a:extLst>
              <a:ext uri="{FF2B5EF4-FFF2-40B4-BE49-F238E27FC236}">
                <a16:creationId xmlns:a16="http://schemas.microsoft.com/office/drawing/2014/main" id="{E8EB923B-5535-3A1E-3802-B77081D10907}"/>
              </a:ext>
            </a:extLst>
          </p:cNvPr>
          <p:cNvSpPr/>
          <p:nvPr/>
        </p:nvSpPr>
        <p:spPr>
          <a:xfrm>
            <a:off x="3965288"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IBM Granite LLM (GPT-OSS 130B)</a:t>
            </a:r>
            <a:endParaRPr lang="en-US" sz="1100" dirty="0">
              <a:latin typeface="Arial" panose="020B0604020202020204" pitchFamily="34" charset="0"/>
              <a:cs typeface="Arial" panose="020B0604020202020204" pitchFamily="34" charset="0"/>
            </a:endParaRPr>
          </a:p>
        </p:txBody>
      </p:sp>
      <p:sp>
        <p:nvSpPr>
          <p:cNvPr id="27" name="Shape 24">
            <a:extLst>
              <a:ext uri="{FF2B5EF4-FFF2-40B4-BE49-F238E27FC236}">
                <a16:creationId xmlns:a16="http://schemas.microsoft.com/office/drawing/2014/main" id="{BAFE6027-D33B-3E04-4BF9-5418326245AE}"/>
              </a:ext>
            </a:extLst>
          </p:cNvPr>
          <p:cNvSpPr/>
          <p:nvPr/>
        </p:nvSpPr>
        <p:spPr>
          <a:xfrm>
            <a:off x="3965288" y="429736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8" name="Text 25">
            <a:extLst>
              <a:ext uri="{FF2B5EF4-FFF2-40B4-BE49-F238E27FC236}">
                <a16:creationId xmlns:a16="http://schemas.microsoft.com/office/drawing/2014/main" id="{AA572989-DF34-F16E-B003-18654023BA35}"/>
              </a:ext>
            </a:extLst>
          </p:cNvPr>
          <p:cNvSpPr/>
          <p:nvPr/>
        </p:nvSpPr>
        <p:spPr>
          <a:xfrm>
            <a:off x="3965288"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Behavior Prompt Engine</a:t>
            </a:r>
            <a:endParaRPr lang="en-US" sz="1100" dirty="0">
              <a:latin typeface="Arial" panose="020B0604020202020204" pitchFamily="34" charset="0"/>
              <a:cs typeface="Arial" panose="020B0604020202020204" pitchFamily="34" charset="0"/>
            </a:endParaRPr>
          </a:p>
        </p:txBody>
      </p:sp>
      <p:sp>
        <p:nvSpPr>
          <p:cNvPr id="29" name="Shape 26">
            <a:extLst>
              <a:ext uri="{FF2B5EF4-FFF2-40B4-BE49-F238E27FC236}">
                <a16:creationId xmlns:a16="http://schemas.microsoft.com/office/drawing/2014/main" id="{C670A2BC-32C2-7B85-B8D0-A59BEA2E94EF}"/>
              </a:ext>
            </a:extLst>
          </p:cNvPr>
          <p:cNvSpPr/>
          <p:nvPr/>
        </p:nvSpPr>
        <p:spPr>
          <a:xfrm>
            <a:off x="6112042" y="2011360"/>
            <a:ext cx="1920240" cy="3291840"/>
          </a:xfrm>
          <a:prstGeom prst="rect">
            <a:avLst/>
          </a:prstGeom>
          <a:solidFill>
            <a:srgbClr val="E07B00"/>
          </a:solidFill>
          <a:ln w="12700">
            <a:solidFill>
              <a:srgbClr val="E07B00"/>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0" name="Text 27">
            <a:extLst>
              <a:ext uri="{FF2B5EF4-FFF2-40B4-BE49-F238E27FC236}">
                <a16:creationId xmlns:a16="http://schemas.microsoft.com/office/drawing/2014/main" id="{36B559E8-2AD9-984F-F54C-1CD2A0CB1441}"/>
              </a:ext>
            </a:extLst>
          </p:cNvPr>
          <p:cNvSpPr/>
          <p:nvPr/>
        </p:nvSpPr>
        <p:spPr>
          <a:xfrm>
            <a:off x="6157762"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KNOWLEDGE LAYER</a:t>
            </a:r>
            <a:endParaRPr lang="en-US" sz="1100" dirty="0">
              <a:latin typeface="Arial" panose="020B0604020202020204" pitchFamily="34" charset="0"/>
              <a:cs typeface="Arial" panose="020B0604020202020204" pitchFamily="34" charset="0"/>
            </a:endParaRPr>
          </a:p>
        </p:txBody>
      </p:sp>
      <p:sp>
        <p:nvSpPr>
          <p:cNvPr id="31" name="Shape 28">
            <a:extLst>
              <a:ext uri="{FF2B5EF4-FFF2-40B4-BE49-F238E27FC236}">
                <a16:creationId xmlns:a16="http://schemas.microsoft.com/office/drawing/2014/main" id="{CDB5F853-483D-CC4A-4A8F-DF4B2289A085}"/>
              </a:ext>
            </a:extLst>
          </p:cNvPr>
          <p:cNvSpPr/>
          <p:nvPr/>
        </p:nvSpPr>
        <p:spPr>
          <a:xfrm>
            <a:off x="6157762"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2" name="Shape 29">
            <a:extLst>
              <a:ext uri="{FF2B5EF4-FFF2-40B4-BE49-F238E27FC236}">
                <a16:creationId xmlns:a16="http://schemas.microsoft.com/office/drawing/2014/main" id="{BD8B113D-E35F-5E11-9936-BD3C1CA01EAB}"/>
              </a:ext>
            </a:extLst>
          </p:cNvPr>
          <p:cNvSpPr/>
          <p:nvPr/>
        </p:nvSpPr>
        <p:spPr>
          <a:xfrm>
            <a:off x="6203482"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3" name="Text 30">
            <a:extLst>
              <a:ext uri="{FF2B5EF4-FFF2-40B4-BE49-F238E27FC236}">
                <a16:creationId xmlns:a16="http://schemas.microsoft.com/office/drawing/2014/main" id="{2720109F-082A-00B7-97F8-9F3D717842AF}"/>
              </a:ext>
            </a:extLst>
          </p:cNvPr>
          <p:cNvSpPr/>
          <p:nvPr/>
        </p:nvSpPr>
        <p:spPr>
          <a:xfrm>
            <a:off x="6203482"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Knowledge Base (PDF Indexed)</a:t>
            </a:r>
            <a:endParaRPr lang="en-US" sz="1100" dirty="0">
              <a:latin typeface="Arial" panose="020B0604020202020204" pitchFamily="34" charset="0"/>
              <a:cs typeface="Arial" panose="020B0604020202020204" pitchFamily="34" charset="0"/>
            </a:endParaRPr>
          </a:p>
        </p:txBody>
      </p:sp>
      <p:sp>
        <p:nvSpPr>
          <p:cNvPr id="34" name="Shape 31">
            <a:extLst>
              <a:ext uri="{FF2B5EF4-FFF2-40B4-BE49-F238E27FC236}">
                <a16:creationId xmlns:a16="http://schemas.microsoft.com/office/drawing/2014/main" id="{8C9DC6AC-F6C6-3744-137D-FC4A478818A7}"/>
              </a:ext>
            </a:extLst>
          </p:cNvPr>
          <p:cNvSpPr/>
          <p:nvPr/>
        </p:nvSpPr>
        <p:spPr>
          <a:xfrm>
            <a:off x="6203482"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5" name="Text 32">
            <a:extLst>
              <a:ext uri="{FF2B5EF4-FFF2-40B4-BE49-F238E27FC236}">
                <a16:creationId xmlns:a16="http://schemas.microsoft.com/office/drawing/2014/main" id="{105B8FD3-D5E6-4503-313C-B7FA9E03DFFB}"/>
              </a:ext>
            </a:extLst>
          </p:cNvPr>
          <p:cNvSpPr/>
          <p:nvPr/>
        </p:nvSpPr>
        <p:spPr>
          <a:xfrm>
            <a:off x="6203482"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Indian Recipes Document (20 Recipes)</a:t>
            </a:r>
            <a:endParaRPr lang="en-US" sz="1100" dirty="0">
              <a:latin typeface="Arial" panose="020B0604020202020204" pitchFamily="34" charset="0"/>
              <a:cs typeface="Arial" panose="020B0604020202020204" pitchFamily="34" charset="0"/>
            </a:endParaRPr>
          </a:p>
        </p:txBody>
      </p:sp>
      <p:sp>
        <p:nvSpPr>
          <p:cNvPr id="36" name="Shape 33">
            <a:extLst>
              <a:ext uri="{FF2B5EF4-FFF2-40B4-BE49-F238E27FC236}">
                <a16:creationId xmlns:a16="http://schemas.microsoft.com/office/drawing/2014/main" id="{AC2F39DF-976F-0EB8-BF4F-C18945D1596E}"/>
              </a:ext>
            </a:extLst>
          </p:cNvPr>
          <p:cNvSpPr/>
          <p:nvPr/>
        </p:nvSpPr>
        <p:spPr>
          <a:xfrm>
            <a:off x="6203482" y="429736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7" name="Text 34">
            <a:extLst>
              <a:ext uri="{FF2B5EF4-FFF2-40B4-BE49-F238E27FC236}">
                <a16:creationId xmlns:a16="http://schemas.microsoft.com/office/drawing/2014/main" id="{DF47E269-8C9B-9826-5E3E-D6589E9B1A2E}"/>
              </a:ext>
            </a:extLst>
          </p:cNvPr>
          <p:cNvSpPr/>
          <p:nvPr/>
        </p:nvSpPr>
        <p:spPr>
          <a:xfrm>
            <a:off x="6203482"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Serving-Size Multiplier Logic</a:t>
            </a:r>
            <a:endParaRPr lang="en-US" sz="1100" dirty="0">
              <a:latin typeface="Arial" panose="020B0604020202020204" pitchFamily="34" charset="0"/>
              <a:cs typeface="Arial" panose="020B0604020202020204" pitchFamily="34" charset="0"/>
            </a:endParaRPr>
          </a:p>
        </p:txBody>
      </p:sp>
      <p:sp>
        <p:nvSpPr>
          <p:cNvPr id="38" name="Shape 35">
            <a:extLst>
              <a:ext uri="{FF2B5EF4-FFF2-40B4-BE49-F238E27FC236}">
                <a16:creationId xmlns:a16="http://schemas.microsoft.com/office/drawing/2014/main" id="{6D3A62E3-B2AA-C8FE-4B4D-BCCC2752CDE5}"/>
              </a:ext>
            </a:extLst>
          </p:cNvPr>
          <p:cNvSpPr/>
          <p:nvPr/>
        </p:nvSpPr>
        <p:spPr>
          <a:xfrm>
            <a:off x="8350236" y="2011360"/>
            <a:ext cx="1920240" cy="3291840"/>
          </a:xfrm>
          <a:prstGeom prst="rect">
            <a:avLst/>
          </a:prstGeom>
          <a:solidFill>
            <a:srgbClr val="2E7D32"/>
          </a:solidFill>
          <a:ln w="12700">
            <a:solidFill>
              <a:srgbClr val="2E7D32"/>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9" name="Text 36">
            <a:extLst>
              <a:ext uri="{FF2B5EF4-FFF2-40B4-BE49-F238E27FC236}">
                <a16:creationId xmlns:a16="http://schemas.microsoft.com/office/drawing/2014/main" id="{33B31FC7-C9B6-3EFC-2A4B-FFBD6D0E1074}"/>
              </a:ext>
            </a:extLst>
          </p:cNvPr>
          <p:cNvSpPr/>
          <p:nvPr/>
        </p:nvSpPr>
        <p:spPr>
          <a:xfrm>
            <a:off x="8395956"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INFRASTRUCTURE LAYER</a:t>
            </a:r>
            <a:endParaRPr lang="en-US" sz="1100" dirty="0">
              <a:latin typeface="Arial" panose="020B0604020202020204" pitchFamily="34" charset="0"/>
              <a:cs typeface="Arial" panose="020B0604020202020204" pitchFamily="34" charset="0"/>
            </a:endParaRPr>
          </a:p>
        </p:txBody>
      </p:sp>
      <p:sp>
        <p:nvSpPr>
          <p:cNvPr id="40" name="Shape 37">
            <a:extLst>
              <a:ext uri="{FF2B5EF4-FFF2-40B4-BE49-F238E27FC236}">
                <a16:creationId xmlns:a16="http://schemas.microsoft.com/office/drawing/2014/main" id="{AF05EC35-B865-7471-AEE1-4D8181A02522}"/>
              </a:ext>
            </a:extLst>
          </p:cNvPr>
          <p:cNvSpPr/>
          <p:nvPr/>
        </p:nvSpPr>
        <p:spPr>
          <a:xfrm>
            <a:off x="8395956"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1" name="Shape 38">
            <a:extLst>
              <a:ext uri="{FF2B5EF4-FFF2-40B4-BE49-F238E27FC236}">
                <a16:creationId xmlns:a16="http://schemas.microsoft.com/office/drawing/2014/main" id="{B95FFE55-A34C-00DE-014A-64A061735DC1}"/>
              </a:ext>
            </a:extLst>
          </p:cNvPr>
          <p:cNvSpPr/>
          <p:nvPr/>
        </p:nvSpPr>
        <p:spPr>
          <a:xfrm>
            <a:off x="8441676"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2" name="Text 39">
            <a:extLst>
              <a:ext uri="{FF2B5EF4-FFF2-40B4-BE49-F238E27FC236}">
                <a16:creationId xmlns:a16="http://schemas.microsoft.com/office/drawing/2014/main" id="{AC2DD9D3-EA47-A14A-29FB-9B7600E5BC37}"/>
              </a:ext>
            </a:extLst>
          </p:cNvPr>
          <p:cNvSpPr/>
          <p:nvPr/>
        </p:nvSpPr>
        <p:spPr>
          <a:xfrm>
            <a:off x="8441676"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IBM Cloud (Dallas Region)</a:t>
            </a:r>
            <a:endParaRPr lang="en-US" sz="1100" dirty="0">
              <a:latin typeface="Arial" panose="020B0604020202020204" pitchFamily="34" charset="0"/>
              <a:cs typeface="Arial" panose="020B0604020202020204" pitchFamily="34" charset="0"/>
            </a:endParaRPr>
          </a:p>
        </p:txBody>
      </p:sp>
      <p:sp>
        <p:nvSpPr>
          <p:cNvPr id="43" name="Shape 40">
            <a:extLst>
              <a:ext uri="{FF2B5EF4-FFF2-40B4-BE49-F238E27FC236}">
                <a16:creationId xmlns:a16="http://schemas.microsoft.com/office/drawing/2014/main" id="{449EDDCA-9FE5-EB64-B370-1689C069F06E}"/>
              </a:ext>
            </a:extLst>
          </p:cNvPr>
          <p:cNvSpPr/>
          <p:nvPr/>
        </p:nvSpPr>
        <p:spPr>
          <a:xfrm>
            <a:off x="8441676"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4" name="Text 41">
            <a:extLst>
              <a:ext uri="{FF2B5EF4-FFF2-40B4-BE49-F238E27FC236}">
                <a16:creationId xmlns:a16="http://schemas.microsoft.com/office/drawing/2014/main" id="{B043F5D8-878F-07E1-00BB-AA307D1C8A39}"/>
              </a:ext>
            </a:extLst>
          </p:cNvPr>
          <p:cNvSpPr/>
          <p:nvPr/>
        </p:nvSpPr>
        <p:spPr>
          <a:xfrm>
            <a:off x="8441676"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Free / Lite Plan Tier</a:t>
            </a:r>
            <a:endParaRPr lang="en-US" sz="1100" dirty="0">
              <a:latin typeface="Arial" panose="020B0604020202020204" pitchFamily="34" charset="0"/>
              <a:cs typeface="Arial" panose="020B0604020202020204" pitchFamily="34" charset="0"/>
            </a:endParaRPr>
          </a:p>
        </p:txBody>
      </p:sp>
      <p:sp>
        <p:nvSpPr>
          <p:cNvPr id="45" name="Shape 42">
            <a:extLst>
              <a:ext uri="{FF2B5EF4-FFF2-40B4-BE49-F238E27FC236}">
                <a16:creationId xmlns:a16="http://schemas.microsoft.com/office/drawing/2014/main" id="{5E450898-DBE2-40AE-A911-CD13F8CD39F9}"/>
              </a:ext>
            </a:extLst>
          </p:cNvPr>
          <p:cNvSpPr/>
          <p:nvPr/>
        </p:nvSpPr>
        <p:spPr>
          <a:xfrm>
            <a:off x="8441676" y="429736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6" name="Text 43">
            <a:extLst>
              <a:ext uri="{FF2B5EF4-FFF2-40B4-BE49-F238E27FC236}">
                <a16:creationId xmlns:a16="http://schemas.microsoft.com/office/drawing/2014/main" id="{CE02567C-B378-C6B5-937E-65974728E38E}"/>
              </a:ext>
            </a:extLst>
          </p:cNvPr>
          <p:cNvSpPr/>
          <p:nvPr/>
        </p:nvSpPr>
        <p:spPr>
          <a:xfrm>
            <a:off x="8441676"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IAM Security &amp; Access Control</a:t>
            </a:r>
            <a:endParaRPr lang="en-US" sz="1100" dirty="0">
              <a:latin typeface="Arial" panose="020B0604020202020204" pitchFamily="34" charset="0"/>
              <a:cs typeface="Arial" panose="020B0604020202020204" pitchFamily="34" charset="0"/>
            </a:endParaRPr>
          </a:p>
        </p:txBody>
      </p:sp>
      <p:sp>
        <p:nvSpPr>
          <p:cNvPr id="47" name="Text 44">
            <a:extLst>
              <a:ext uri="{FF2B5EF4-FFF2-40B4-BE49-F238E27FC236}">
                <a16:creationId xmlns:a16="http://schemas.microsoft.com/office/drawing/2014/main" id="{4DDB36DC-19E5-EF25-5370-E1FAABA66BD9}"/>
              </a:ext>
            </a:extLst>
          </p:cNvPr>
          <p:cNvSpPr/>
          <p:nvPr/>
        </p:nvSpPr>
        <p:spPr>
          <a:xfrm>
            <a:off x="3517232" y="3337240"/>
            <a:ext cx="237744"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48" name="Text 45">
            <a:extLst>
              <a:ext uri="{FF2B5EF4-FFF2-40B4-BE49-F238E27FC236}">
                <a16:creationId xmlns:a16="http://schemas.microsoft.com/office/drawing/2014/main" id="{187C4D02-EB9B-D599-93FE-180D162EE11F}"/>
              </a:ext>
            </a:extLst>
          </p:cNvPr>
          <p:cNvSpPr/>
          <p:nvPr/>
        </p:nvSpPr>
        <p:spPr>
          <a:xfrm>
            <a:off x="5842214" y="3291520"/>
            <a:ext cx="237744"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49" name="Text 46">
            <a:extLst>
              <a:ext uri="{FF2B5EF4-FFF2-40B4-BE49-F238E27FC236}">
                <a16:creationId xmlns:a16="http://schemas.microsoft.com/office/drawing/2014/main" id="{361B0926-EC9A-BD3D-BF1E-511BB2EBB00E}"/>
              </a:ext>
            </a:extLst>
          </p:cNvPr>
          <p:cNvSpPr/>
          <p:nvPr/>
        </p:nvSpPr>
        <p:spPr>
          <a:xfrm>
            <a:off x="8107680" y="3268660"/>
            <a:ext cx="237744"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461665"/>
          </a:xfrm>
          <a:prstGeom prst="rect">
            <a:avLst/>
          </a:prstGeom>
          <a:noFill/>
        </p:spPr>
        <p:txBody>
          <a:bodyPr wrap="square" rtlCol="0">
            <a:spAutoFit/>
          </a:bodyPr>
          <a:lstStyle/>
          <a:p>
            <a:r>
              <a:rPr lang="en-US" sz="2400" b="1" dirty="0"/>
              <a:t>Role of Agentic AI in the solution </a:t>
            </a:r>
            <a:endParaRPr lang="en-IN" sz="24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031873"/>
          </a:xfrm>
          <a:prstGeom prst="rect">
            <a:avLst/>
          </a:prstGeom>
          <a:noFill/>
        </p:spPr>
        <p:txBody>
          <a:bodyPr wrap="square" rtlCol="0">
            <a:spAutoFit/>
          </a:bodyPr>
          <a:lstStyle/>
          <a:p>
            <a:r>
              <a:rPr lang="en-US" sz="1600" b="1" dirty="0">
                <a:solidFill>
                  <a:schemeClr val="tx1"/>
                </a:solidFill>
                <a:latin typeface="Arial" panose="020B0604020202020204" pitchFamily="34" charset="0"/>
                <a:ea typeface="Calibri" pitchFamily="34" charset="-122"/>
                <a:cs typeface="Arial" panose="020B0604020202020204" pitchFamily="34" charset="0"/>
              </a:rPr>
              <a:t>Role of Agentic AI in Indian Recipe Agent</a:t>
            </a:r>
            <a:endParaRPr lang="en-US" sz="1600" dirty="0">
              <a:solidFill>
                <a:schemeClr val="tx1"/>
              </a:solidFill>
              <a:latin typeface="Arial" panose="020B0604020202020204" pitchFamily="34" charset="0"/>
              <a:cs typeface="Arial" panose="020B0604020202020204" pitchFamily="34" charset="0"/>
            </a:endParaRPr>
          </a:p>
          <a:p>
            <a:endParaRPr lang="en-US" sz="1600" b="1" dirty="0">
              <a:solidFill>
                <a:schemeClr val="tx1"/>
              </a:solidFill>
              <a:latin typeface="Arial" panose="020B0604020202020204" pitchFamily="34" charset="0"/>
              <a:cs typeface="Arial" panose="020B0604020202020204" pitchFamily="34" charset="0"/>
            </a:endParaRPr>
          </a:p>
          <a:p>
            <a:pPr marL="0" indent="0" algn="just">
              <a:buNone/>
            </a:pPr>
            <a:r>
              <a:rPr lang="en-US" sz="1600" dirty="0">
                <a:solidFill>
                  <a:schemeClr val="tx1"/>
                </a:solidFill>
                <a:latin typeface="Arial" panose="020B0604020202020204" pitchFamily="34" charset="0"/>
                <a:ea typeface="Calibri" pitchFamily="34" charset="-122"/>
                <a:cs typeface="Arial" panose="020B0604020202020204" pitchFamily="34" charset="0"/>
              </a:rPr>
              <a:t>Agentic AI enables the Indian Cuisine Recipe Agent to function as an intelligent, autonomous assistant rather than a simple chatbot. Using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and the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agent pattern, it reasons through user queries and retrieves accurate recipe data from the knowledge base.</a:t>
            </a:r>
            <a:endParaRPr lang="en-US" sz="1600" dirty="0">
              <a:solidFill>
                <a:schemeClr val="tx1"/>
              </a:solidFill>
              <a:latin typeface="Arial" panose="020B0604020202020204" pitchFamily="34" charset="0"/>
              <a:cs typeface="Arial" panose="020B0604020202020204" pitchFamily="34" charset="0"/>
            </a:endParaRPr>
          </a:p>
          <a:p>
            <a:pPr marL="0" indent="0" algn="just">
              <a:buNone/>
            </a:pPr>
            <a:endParaRPr lang="en-US" sz="1600" dirty="0">
              <a:solidFill>
                <a:schemeClr val="tx1"/>
              </a:solidFill>
              <a:latin typeface="Arial" panose="020B0604020202020204" pitchFamily="34" charset="0"/>
              <a:cs typeface="Arial" panose="020B0604020202020204" pitchFamily="34" charset="0"/>
            </a:endParaRPr>
          </a:p>
          <a:p>
            <a:pPr marL="0" indent="0" algn="just">
              <a:buNone/>
            </a:pPr>
            <a:r>
              <a:rPr lang="en-US" sz="1600" dirty="0">
                <a:solidFill>
                  <a:schemeClr val="tx1"/>
                </a:solidFill>
                <a:latin typeface="Arial" panose="020B0604020202020204" pitchFamily="34" charset="0"/>
                <a:ea typeface="Calibri" pitchFamily="34" charset="-122"/>
                <a:cs typeface="Arial" panose="020B0604020202020204" pitchFamily="34" charset="0"/>
              </a:rPr>
              <a:t>The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(Reasoning + Acting) pattern allows the agent to think step-by-step, observe knowledge base results, and refine its response before delivering it. This ensures recipe accuracy, correct ingredient scaling, and coherent cooking instructions.</a:t>
            </a:r>
            <a:endParaRPr lang="en-US" sz="1600" dirty="0">
              <a:solidFill>
                <a:schemeClr val="tx1"/>
              </a:solidFill>
              <a:latin typeface="Arial" panose="020B0604020202020204" pitchFamily="34" charset="0"/>
              <a:cs typeface="Arial" panose="020B0604020202020204" pitchFamily="34" charset="0"/>
            </a:endParaRPr>
          </a:p>
          <a:p>
            <a:pPr marL="0" indent="0" algn="just">
              <a:buNone/>
            </a:pPr>
            <a:endParaRPr lang="en-US" sz="1600" dirty="0">
              <a:solidFill>
                <a:schemeClr val="tx1"/>
              </a:solidFill>
              <a:latin typeface="Arial" panose="020B0604020202020204" pitchFamily="34" charset="0"/>
              <a:cs typeface="Arial" panose="020B0604020202020204" pitchFamily="34" charset="0"/>
            </a:endParaRPr>
          </a:p>
          <a:p>
            <a:pPr marL="0" indent="0" algn="just">
              <a:buNone/>
            </a:pPr>
            <a:r>
              <a:rPr lang="en-US" sz="1600" dirty="0">
                <a:solidFill>
                  <a:schemeClr val="tx1"/>
                </a:solidFill>
                <a:latin typeface="Arial" panose="020B0604020202020204" pitchFamily="34" charset="0"/>
                <a:ea typeface="Calibri" pitchFamily="34" charset="-122"/>
                <a:cs typeface="Arial" panose="020B0604020202020204" pitchFamily="34" charset="0"/>
              </a:rPr>
              <a:t>The agent brings context awareness, understanding user needs such as serving size, spice preference, and dietary requirements to generate tailored responses. It supports structured output ensuring every response follows a consistent, readable format.</a:t>
            </a:r>
            <a:endParaRPr lang="en-US" sz="1600" dirty="0">
              <a:solidFill>
                <a:schemeClr val="tx1"/>
              </a:solidFill>
              <a:latin typeface="Arial" panose="020B0604020202020204" pitchFamily="34" charset="0"/>
              <a:cs typeface="Arial" panose="020B0604020202020204" pitchFamily="34" charset="0"/>
            </a:endParaRPr>
          </a:p>
        </p:txBody>
      </p:sp>
      <p:sp>
        <p:nvSpPr>
          <p:cNvPr id="4" name="Shape 9">
            <a:extLst>
              <a:ext uri="{FF2B5EF4-FFF2-40B4-BE49-F238E27FC236}">
                <a16:creationId xmlns:a16="http://schemas.microsoft.com/office/drawing/2014/main" id="{7F18410A-D754-26D6-DE72-3A1F5E0DBB15}"/>
              </a:ext>
            </a:extLst>
          </p:cNvPr>
          <p:cNvSpPr/>
          <p:nvPr/>
        </p:nvSpPr>
        <p:spPr>
          <a:xfrm>
            <a:off x="8305039" y="1418516"/>
            <a:ext cx="3017520" cy="685800"/>
          </a:xfrm>
          <a:prstGeom prst="rect">
            <a:avLst/>
          </a:prstGeom>
          <a:solidFill>
            <a:srgbClr val="1A2F5E"/>
          </a:solidFill>
          <a:ln w="12700">
            <a:solidFill>
              <a:srgbClr val="1A2F5E"/>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5" name="Text 10">
            <a:extLst>
              <a:ext uri="{FF2B5EF4-FFF2-40B4-BE49-F238E27FC236}">
                <a16:creationId xmlns:a16="http://schemas.microsoft.com/office/drawing/2014/main" id="{044301DB-8D6F-3430-82F9-9FA9EEE068C9}"/>
              </a:ext>
            </a:extLst>
          </p:cNvPr>
          <p:cNvSpPr/>
          <p:nvPr/>
        </p:nvSpPr>
        <p:spPr>
          <a:xfrm>
            <a:off x="8332471" y="1455092"/>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Reasoning</a:t>
            </a:r>
            <a:endParaRPr lang="en-US" sz="1200" dirty="0">
              <a:latin typeface="Arial" panose="020B0604020202020204" pitchFamily="34" charset="0"/>
              <a:cs typeface="Arial" panose="020B0604020202020204" pitchFamily="34" charset="0"/>
            </a:endParaRPr>
          </a:p>
        </p:txBody>
      </p:sp>
      <p:sp>
        <p:nvSpPr>
          <p:cNvPr id="6" name="Text 11">
            <a:extLst>
              <a:ext uri="{FF2B5EF4-FFF2-40B4-BE49-F238E27FC236}">
                <a16:creationId xmlns:a16="http://schemas.microsoft.com/office/drawing/2014/main" id="{99D3B374-C367-7A38-DA96-0A6175843B98}"/>
              </a:ext>
            </a:extLst>
          </p:cNvPr>
          <p:cNvSpPr/>
          <p:nvPr/>
        </p:nvSpPr>
        <p:spPr>
          <a:xfrm>
            <a:off x="8332471" y="1765988"/>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Thinks before answering – verifies info from KB</a:t>
            </a:r>
            <a:endParaRPr lang="en-US" sz="1000" dirty="0">
              <a:latin typeface="Arial" panose="020B0604020202020204" pitchFamily="34" charset="0"/>
              <a:cs typeface="Arial" panose="020B0604020202020204" pitchFamily="34" charset="0"/>
            </a:endParaRPr>
          </a:p>
        </p:txBody>
      </p:sp>
      <p:sp>
        <p:nvSpPr>
          <p:cNvPr id="7" name="Shape 12">
            <a:extLst>
              <a:ext uri="{FF2B5EF4-FFF2-40B4-BE49-F238E27FC236}">
                <a16:creationId xmlns:a16="http://schemas.microsoft.com/office/drawing/2014/main" id="{4428A26B-BE85-6FA5-79AB-ACEF900F0EA0}"/>
              </a:ext>
            </a:extLst>
          </p:cNvPr>
          <p:cNvSpPr/>
          <p:nvPr/>
        </p:nvSpPr>
        <p:spPr>
          <a:xfrm>
            <a:off x="8305039" y="2241476"/>
            <a:ext cx="3017520" cy="685800"/>
          </a:xfrm>
          <a:prstGeom prst="rect">
            <a:avLst/>
          </a:prstGeom>
          <a:solidFill>
            <a:srgbClr val="E07B00"/>
          </a:solidFill>
          <a:ln w="12700">
            <a:solidFill>
              <a:srgbClr val="E07B00"/>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8" name="Text 13">
            <a:extLst>
              <a:ext uri="{FF2B5EF4-FFF2-40B4-BE49-F238E27FC236}">
                <a16:creationId xmlns:a16="http://schemas.microsoft.com/office/drawing/2014/main" id="{93ABBA26-A2C8-A9B9-3193-7422D0074FA4}"/>
              </a:ext>
            </a:extLst>
          </p:cNvPr>
          <p:cNvSpPr/>
          <p:nvPr/>
        </p:nvSpPr>
        <p:spPr>
          <a:xfrm>
            <a:off x="8332471" y="2278052"/>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Acting</a:t>
            </a:r>
            <a:endParaRPr lang="en-US" sz="1200" dirty="0">
              <a:latin typeface="Arial" panose="020B0604020202020204" pitchFamily="34" charset="0"/>
              <a:cs typeface="Arial" panose="020B0604020202020204" pitchFamily="34" charset="0"/>
            </a:endParaRPr>
          </a:p>
        </p:txBody>
      </p:sp>
      <p:sp>
        <p:nvSpPr>
          <p:cNvPr id="9" name="Text 14">
            <a:extLst>
              <a:ext uri="{FF2B5EF4-FFF2-40B4-BE49-F238E27FC236}">
                <a16:creationId xmlns:a16="http://schemas.microsoft.com/office/drawing/2014/main" id="{A9316AAA-57DB-BC7A-0253-00E3E5577C0F}"/>
              </a:ext>
            </a:extLst>
          </p:cNvPr>
          <p:cNvSpPr/>
          <p:nvPr/>
        </p:nvSpPr>
        <p:spPr>
          <a:xfrm>
            <a:off x="8332471" y="2638591"/>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Queries knowledge base to retrieve recipe</a:t>
            </a:r>
            <a:endParaRPr lang="en-US" sz="1000" dirty="0">
              <a:latin typeface="Arial" panose="020B0604020202020204" pitchFamily="34" charset="0"/>
              <a:cs typeface="Arial" panose="020B0604020202020204" pitchFamily="34" charset="0"/>
            </a:endParaRPr>
          </a:p>
        </p:txBody>
      </p:sp>
      <p:sp>
        <p:nvSpPr>
          <p:cNvPr id="10" name="Shape 15">
            <a:extLst>
              <a:ext uri="{FF2B5EF4-FFF2-40B4-BE49-F238E27FC236}">
                <a16:creationId xmlns:a16="http://schemas.microsoft.com/office/drawing/2014/main" id="{C7C8C041-1AB8-CC46-5868-53D121010CD1}"/>
              </a:ext>
            </a:extLst>
          </p:cNvPr>
          <p:cNvSpPr/>
          <p:nvPr/>
        </p:nvSpPr>
        <p:spPr>
          <a:xfrm>
            <a:off x="8305039" y="3064436"/>
            <a:ext cx="3017520" cy="758952"/>
          </a:xfrm>
          <a:prstGeom prst="rect">
            <a:avLst/>
          </a:prstGeom>
          <a:solidFill>
            <a:srgbClr val="1A2F5E"/>
          </a:solidFill>
          <a:ln w="12700">
            <a:solidFill>
              <a:srgbClr val="1A2F5E"/>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11" name="Text 16">
            <a:extLst>
              <a:ext uri="{FF2B5EF4-FFF2-40B4-BE49-F238E27FC236}">
                <a16:creationId xmlns:a16="http://schemas.microsoft.com/office/drawing/2014/main" id="{5338CDDE-C83A-9AA9-4713-977FA1C805FB}"/>
              </a:ext>
            </a:extLst>
          </p:cNvPr>
          <p:cNvSpPr/>
          <p:nvPr/>
        </p:nvSpPr>
        <p:spPr>
          <a:xfrm>
            <a:off x="8332471" y="3151739"/>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Observing</a:t>
            </a:r>
            <a:endParaRPr lang="en-US" sz="1200" dirty="0">
              <a:latin typeface="Arial" panose="020B0604020202020204" pitchFamily="34" charset="0"/>
              <a:cs typeface="Arial" panose="020B0604020202020204" pitchFamily="34" charset="0"/>
            </a:endParaRPr>
          </a:p>
        </p:txBody>
      </p:sp>
      <p:sp>
        <p:nvSpPr>
          <p:cNvPr id="12" name="Text 17">
            <a:extLst>
              <a:ext uri="{FF2B5EF4-FFF2-40B4-BE49-F238E27FC236}">
                <a16:creationId xmlns:a16="http://schemas.microsoft.com/office/drawing/2014/main" id="{8DC4C9C7-6A9A-97F0-A646-B286BDA26C91}"/>
              </a:ext>
            </a:extLst>
          </p:cNvPr>
          <p:cNvSpPr/>
          <p:nvPr/>
        </p:nvSpPr>
        <p:spPr>
          <a:xfrm>
            <a:off x="8332471" y="3477540"/>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Reviews retrieved data for completeness</a:t>
            </a:r>
            <a:endParaRPr lang="en-US" sz="1000" dirty="0">
              <a:latin typeface="Arial" panose="020B0604020202020204" pitchFamily="34" charset="0"/>
              <a:cs typeface="Arial" panose="020B0604020202020204" pitchFamily="34" charset="0"/>
            </a:endParaRPr>
          </a:p>
        </p:txBody>
      </p:sp>
      <p:sp>
        <p:nvSpPr>
          <p:cNvPr id="13" name="Shape 18">
            <a:extLst>
              <a:ext uri="{FF2B5EF4-FFF2-40B4-BE49-F238E27FC236}">
                <a16:creationId xmlns:a16="http://schemas.microsoft.com/office/drawing/2014/main" id="{606D4AD9-BB63-52EC-6F9B-02F65EB32C86}"/>
              </a:ext>
            </a:extLst>
          </p:cNvPr>
          <p:cNvSpPr/>
          <p:nvPr/>
        </p:nvSpPr>
        <p:spPr>
          <a:xfrm>
            <a:off x="8305039" y="3981797"/>
            <a:ext cx="3017520" cy="685800"/>
          </a:xfrm>
          <a:prstGeom prst="rect">
            <a:avLst/>
          </a:prstGeom>
          <a:solidFill>
            <a:srgbClr val="E07B00"/>
          </a:solidFill>
          <a:ln w="12700">
            <a:solidFill>
              <a:srgbClr val="E07B00"/>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14" name="Text 19">
            <a:extLst>
              <a:ext uri="{FF2B5EF4-FFF2-40B4-BE49-F238E27FC236}">
                <a16:creationId xmlns:a16="http://schemas.microsoft.com/office/drawing/2014/main" id="{C277A59C-DB64-04ED-B8CF-6972382B80F9}"/>
              </a:ext>
            </a:extLst>
          </p:cNvPr>
          <p:cNvSpPr/>
          <p:nvPr/>
        </p:nvSpPr>
        <p:spPr>
          <a:xfrm>
            <a:off x="8332471" y="4033278"/>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Refining</a:t>
            </a:r>
            <a:endParaRPr lang="en-US" sz="1200" dirty="0">
              <a:latin typeface="Arial" panose="020B0604020202020204" pitchFamily="34" charset="0"/>
              <a:cs typeface="Arial" panose="020B0604020202020204" pitchFamily="34" charset="0"/>
            </a:endParaRPr>
          </a:p>
        </p:txBody>
      </p:sp>
      <p:sp>
        <p:nvSpPr>
          <p:cNvPr id="15" name="Text 20">
            <a:extLst>
              <a:ext uri="{FF2B5EF4-FFF2-40B4-BE49-F238E27FC236}">
                <a16:creationId xmlns:a16="http://schemas.microsoft.com/office/drawing/2014/main" id="{0A00E1F2-8AF0-2005-B682-AF462713FF7D}"/>
              </a:ext>
            </a:extLst>
          </p:cNvPr>
          <p:cNvSpPr/>
          <p:nvPr/>
        </p:nvSpPr>
        <p:spPr>
          <a:xfrm>
            <a:off x="8332471" y="4381137"/>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Adjusts response for accuracy and structure</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93538"/>
          </a:xfrm>
          <a:prstGeom prst="rect">
            <a:avLst/>
          </a:prstGeom>
          <a:noFill/>
        </p:spPr>
        <p:txBody>
          <a:bodyPr wrap="square" rtlCol="0">
            <a:spAutoFit/>
          </a:bodyPr>
          <a:lstStyle/>
          <a:p>
            <a:pPr marL="285750" indent="-285750">
              <a:buFont typeface="Arial" panose="020B0604020202020204" pitchFamily="34" charset="0"/>
              <a:buChar char="•"/>
            </a:pPr>
            <a:r>
              <a:rPr lang="en-IN" sz="1600" b="1" dirty="0">
                <a:effectLst/>
              </a:rPr>
              <a:t>IBM </a:t>
            </a:r>
            <a:r>
              <a:rPr lang="en-IN" sz="1600" b="1" dirty="0" err="1">
                <a:effectLst/>
              </a:rPr>
              <a:t>watsonx</a:t>
            </a:r>
            <a:r>
              <a:rPr lang="en-IN" sz="1600" b="1" dirty="0">
                <a:effectLst/>
              </a:rPr>
              <a:t> Orchestrate</a:t>
            </a:r>
            <a:r>
              <a:rPr lang="en-IN" sz="1600" dirty="0">
                <a:effectLst/>
              </a:rPr>
              <a:t> - For designing and deploying the Indian Cuisine Recipe Agent with knowledge base integration, </a:t>
            </a:r>
            <a:r>
              <a:rPr lang="en-IN" sz="1600" dirty="0" err="1">
                <a:effectLst/>
              </a:rPr>
              <a:t>ReAct</a:t>
            </a:r>
            <a:r>
              <a:rPr lang="en-IN" sz="1600" dirty="0">
                <a:effectLst/>
              </a:rPr>
              <a:t> agent style, and </a:t>
            </a:r>
            <a:r>
              <a:rPr lang="en-IN" sz="1600" dirty="0" err="1">
                <a:effectLst/>
              </a:rPr>
              <a:t>behavior</a:t>
            </a:r>
            <a:r>
              <a:rPr lang="en-IN" sz="1600" dirty="0">
                <a:effectLst/>
              </a:rPr>
              <a:t> prompt configuration.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effectLst/>
              </a:rPr>
              <a:t>IBM Granite Model - GPT-OSS 130B </a:t>
            </a:r>
            <a:r>
              <a:rPr lang="en-IN" sz="1600" dirty="0">
                <a:effectLst/>
              </a:rPr>
              <a:t>– For natural language understanding, reasoning, recipe instruction generation, and serving-size adaptation.</a:t>
            </a:r>
            <a:endParaRPr lang="en-IN" sz="1600"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effectLst/>
              </a:rPr>
              <a:t>IBM Cloud </a:t>
            </a:r>
            <a:r>
              <a:rPr lang="en-IN" sz="1600" dirty="0">
                <a:effectLst/>
              </a:rPr>
              <a:t>- Provides the infrastructure to build, deploy, and scale the Recipe Agent. Dallas region selected for Free (Lite) plan deployment.</a:t>
            </a:r>
            <a:endParaRPr lang="en-IN" sz="1600"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err="1">
                <a:effectLst/>
              </a:rPr>
              <a:t>ReAct</a:t>
            </a:r>
            <a:r>
              <a:rPr lang="en-IN" sz="1600" b="1" dirty="0">
                <a:effectLst/>
              </a:rPr>
              <a:t> Agent Pattern </a:t>
            </a:r>
            <a:r>
              <a:rPr lang="en-IN" sz="1600" dirty="0">
                <a:effectLst/>
              </a:rPr>
              <a:t>- Reasoning + Acting framework enabling the agent to think, retrieve from knowledge base, and refine recipe responses iteratively.</a:t>
            </a:r>
            <a:endParaRPr lang="en-IN" sz="1600"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effectLst/>
              </a:rPr>
              <a:t>Knowledge Base (RAG) </a:t>
            </a:r>
            <a:r>
              <a:rPr lang="en-IN" sz="1600" dirty="0">
                <a:effectLst/>
              </a:rPr>
              <a:t>- PDF-indexed knowledge base containing 20 authentic Indian recipes. Agent retrieves recipe data exclusively from this source.</a:t>
            </a:r>
            <a:endParaRPr lang="en-IN" sz="1600" dirty="0"/>
          </a:p>
          <a:p>
            <a:endParaRPr lang="en-IN" sz="1600" dirty="0"/>
          </a:p>
          <a:p>
            <a:pPr marL="285750" indent="-285750">
              <a:buFont typeface="Arial" panose="020B0604020202020204" pitchFamily="34" charset="0"/>
              <a:buChar char="•"/>
            </a:pPr>
            <a:r>
              <a:rPr lang="en-IN" sz="1600" b="1" dirty="0" err="1">
                <a:effectLst/>
              </a:rPr>
              <a:t>Behavior</a:t>
            </a:r>
            <a:r>
              <a:rPr lang="en-IN" sz="1600" b="1" dirty="0">
                <a:effectLst/>
              </a:rPr>
              <a:t> Prompt </a:t>
            </a:r>
            <a:r>
              <a:rPr lang="en-IN" sz="1600" dirty="0">
                <a:effectLst/>
              </a:rPr>
              <a:t>- System prompt that restricts the agent to KB-only responses, enforces structured output format, and handles serving-size adjustments.</a:t>
            </a:r>
            <a:endParaRPr lang="en-IN" sz="1600" dirty="0"/>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62628"/>
            <a:ext cx="11301984" cy="4278094"/>
          </a:xfrm>
          <a:prstGeom prst="rect">
            <a:avLst/>
          </a:prstGeom>
          <a:noFill/>
        </p:spPr>
        <p:txBody>
          <a:bodyPr wrap="square" rtlCol="0">
            <a:spAutoFit/>
          </a:bodyPr>
          <a:lstStyle/>
          <a:p>
            <a:r>
              <a:rPr lang="en-US" sz="1600" dirty="0">
                <a:solidFill>
                  <a:schemeClr val="tx1"/>
                </a:solidFill>
                <a:latin typeface="Arial" panose="020B0604020202020204" pitchFamily="34" charset="0"/>
                <a:ea typeface="Calibri" pitchFamily="34" charset="-122"/>
                <a:cs typeface="Arial" panose="020B0604020202020204" pitchFamily="34" charset="0"/>
              </a:rPr>
              <a:t>The Indian Cuisine Recipe Agent stands out by combining Agentic AI, Knowledge Base RAG, and authentic culinary expertise into a single focused intelligent system.</a:t>
            </a:r>
          </a:p>
          <a:p>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Knowledge-Grounded Accuracy – </a:t>
            </a:r>
            <a:r>
              <a:rPr lang="en-US" sz="1600" dirty="0">
                <a:solidFill>
                  <a:schemeClr val="tx1"/>
                </a:solidFill>
                <a:latin typeface="Arial" panose="020B0604020202020204" pitchFamily="34" charset="0"/>
                <a:ea typeface="Calibri" pitchFamily="34" charset="-122"/>
                <a:cs typeface="Arial" panose="020B0604020202020204" pitchFamily="34" charset="0"/>
              </a:rPr>
              <a:t>Uses only a curated recipe knowledge base – zero hallucination, zero unverified content from the internet.</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Regional Indian Cuisine Coverage – </a:t>
            </a:r>
            <a:r>
              <a:rPr lang="en-US" sz="1600" dirty="0">
                <a:solidFill>
                  <a:schemeClr val="tx1"/>
                </a:solidFill>
                <a:latin typeface="Arial" panose="020B0604020202020204" pitchFamily="34" charset="0"/>
                <a:ea typeface="Calibri" pitchFamily="34" charset="-122"/>
                <a:cs typeface="Arial" panose="020B0604020202020204" pitchFamily="34" charset="0"/>
              </a:rPr>
              <a:t>Covers 20 recipes across North Indian, South Indian, Bengali, Gujarati, and Coastal cuisines in one agent.</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Dynamic Serving-Size Scaling – </a:t>
            </a:r>
            <a:r>
              <a:rPr lang="en-US" sz="1600" dirty="0">
                <a:solidFill>
                  <a:schemeClr val="tx1"/>
                </a:solidFill>
                <a:latin typeface="Arial" panose="020B0604020202020204" pitchFamily="34" charset="0"/>
                <a:ea typeface="Calibri" pitchFamily="34" charset="-122"/>
                <a:cs typeface="Arial" panose="020B0604020202020204" pitchFamily="34" charset="0"/>
              </a:rPr>
              <a:t>Automatically adjusts all ingredient quantities proportionally when user specifies a serving count.</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Structured Output Enforcement – </a:t>
            </a:r>
            <a:r>
              <a:rPr lang="en-US" sz="1600" dirty="0">
                <a:solidFill>
                  <a:schemeClr val="tx1"/>
                </a:solidFill>
                <a:latin typeface="Arial" panose="020B0604020202020204" pitchFamily="34" charset="0"/>
                <a:ea typeface="Calibri" pitchFamily="34" charset="-122"/>
                <a:cs typeface="Arial" panose="020B0604020202020204" pitchFamily="34" charset="0"/>
              </a:rPr>
              <a:t>Behavior prompt enforces a consistent output format: Recipe Name → Servings → Ingredients → Steps → Tips → Spice Level.</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err="1">
                <a:solidFill>
                  <a:schemeClr val="tx1"/>
                </a:solidFill>
                <a:latin typeface="Arial" panose="020B0604020202020204" pitchFamily="34" charset="0"/>
                <a:ea typeface="Calibri" pitchFamily="34" charset="-122"/>
                <a:cs typeface="Arial" panose="020B0604020202020204" pitchFamily="34" charset="0"/>
              </a:rPr>
              <a:t>ReAct</a:t>
            </a:r>
            <a:r>
              <a:rPr lang="en-US" sz="1600" b="1" dirty="0">
                <a:solidFill>
                  <a:schemeClr val="tx1"/>
                </a:solidFill>
                <a:latin typeface="Arial" panose="020B0604020202020204" pitchFamily="34" charset="0"/>
                <a:ea typeface="Calibri" pitchFamily="34" charset="-122"/>
                <a:cs typeface="Arial" panose="020B0604020202020204" pitchFamily="34" charset="0"/>
              </a:rPr>
              <a:t> Reasoning for Accuracy –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pattern verifies knowledge base data before responding, reducing errors in complex multi-step recipes.</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Beginner-Friendly Design – </a:t>
            </a:r>
            <a:r>
              <a:rPr lang="en-US" sz="1600" dirty="0">
                <a:solidFill>
                  <a:schemeClr val="tx1"/>
                </a:solidFill>
                <a:latin typeface="Arial" panose="020B0604020202020204" pitchFamily="34" charset="0"/>
                <a:ea typeface="Calibri" pitchFamily="34" charset="-122"/>
                <a:cs typeface="Arial" panose="020B0604020202020204" pitchFamily="34" charset="0"/>
              </a:rPr>
              <a:t>Clear, jargon-free instructions, spice level guidance, and cooking tips make Indian recipes accessible to all.</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Enterprise-Ready on IBM Cloud – </a:t>
            </a:r>
            <a:r>
              <a:rPr lang="en-US" sz="1600" dirty="0">
                <a:solidFill>
                  <a:schemeClr val="tx1"/>
                </a:solidFill>
                <a:latin typeface="Arial" panose="020B0604020202020204" pitchFamily="34" charset="0"/>
                <a:ea typeface="Calibri" pitchFamily="34" charset="-122"/>
                <a:cs typeface="Arial" panose="020B0604020202020204" pitchFamily="34" charset="0"/>
              </a:rPr>
              <a:t>Built on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with IAM security, scalable infrastructure, and free-tier accessibility.</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600" b="0" i="0" u="none" strike="noStrike" cap="none" dirty="0" err="1">
                <a:solidFill>
                  <a:srgbClr val="000000"/>
                </a:solidFill>
                <a:latin typeface="Arial" panose="020B0604020202020204" pitchFamily="34" charset="0"/>
                <a:ea typeface="Times New Roman"/>
                <a:cs typeface="Arial" panose="020B0604020202020204" pitchFamily="34" charset="0"/>
                <a:sym typeface="Times New Roman"/>
              </a:rPr>
              <a:t>Github</a:t>
            </a:r>
            <a:r>
              <a:rPr lang="en-US" sz="1600" dirty="0">
                <a:latin typeface="Arial" panose="020B0604020202020204" pitchFamily="34" charset="0"/>
                <a:ea typeface="Times New Roman"/>
                <a:cs typeface="Arial" panose="020B0604020202020204" pitchFamily="34" charset="0"/>
                <a:sym typeface="Times New Roman"/>
              </a:rPr>
              <a:t> repository:</a:t>
            </a:r>
            <a:br>
              <a:rPr lang="en-US" sz="1600" dirty="0">
                <a:latin typeface="Arial" panose="020B0604020202020204" pitchFamily="34" charset="0"/>
                <a:ea typeface="Times New Roman"/>
                <a:cs typeface="Arial" panose="020B0604020202020204" pitchFamily="34" charset="0"/>
                <a:sym typeface="Times New Roman"/>
              </a:rPr>
            </a:br>
            <a:r>
              <a:rPr lang="en-US" sz="1600" dirty="0">
                <a:latin typeface="Arial" panose="020B0604020202020204" pitchFamily="34" charset="0"/>
                <a:ea typeface="Times New Roman"/>
                <a:cs typeface="Arial" panose="020B0604020202020204" pitchFamily="34" charset="0"/>
                <a:sym typeface="Times New Roman"/>
              </a:rPr>
              <a:t> </a:t>
            </a:r>
            <a:r>
              <a:rPr lang="en-US" sz="1600" dirty="0">
                <a:latin typeface="Arial" panose="020B0604020202020204" pitchFamily="34" charset="0"/>
                <a:ea typeface="Times New Roman"/>
                <a:cs typeface="Arial" panose="020B0604020202020204" pitchFamily="34" charset="0"/>
                <a:sym typeface="Times New Roman"/>
                <a:hlinkClick r:id="rId3"/>
              </a:rPr>
              <a:t>https://github.com/Siddhartha-raj-kotha/Indian-Cuisine-Recipe-Assistant</a:t>
            </a:r>
            <a:br>
              <a:rPr lang="en-US" sz="1600" dirty="0">
                <a:latin typeface="Arial" panose="020B0604020202020204" pitchFamily="34" charset="0"/>
                <a:ea typeface="Times New Roman"/>
                <a:cs typeface="Arial" panose="020B0604020202020204" pitchFamily="34" charset="0"/>
                <a:sym typeface="Times New Roman"/>
              </a:rPr>
            </a:br>
            <a:r>
              <a:rPr lang="en-US" sz="1600" dirty="0">
                <a:latin typeface="Arial" panose="020B0604020202020204" pitchFamily="34" charset="0"/>
                <a:ea typeface="Times New Roman"/>
                <a:cs typeface="Arial" panose="020B0604020202020204" pitchFamily="34" charset="0"/>
                <a:sym typeface="Times New Roman"/>
              </a:rPr>
              <a:t>Contains </a:t>
            </a:r>
          </a:p>
          <a:p>
            <a:pPr marL="342900" lvl="0" indent="-342900">
              <a:lnSpc>
                <a:spcPct val="162162"/>
              </a:lnSpc>
              <a:buClr>
                <a:srgbClr val="2B3541"/>
              </a:buClr>
              <a:buSzPts val="1850"/>
              <a:buFont typeface="Arial" panose="020B0604020202020204" pitchFamily="34" charset="0"/>
              <a:buChar char="•"/>
            </a:pPr>
            <a:r>
              <a:rPr lang="en-IN" sz="1600" dirty="0" err="1">
                <a:latin typeface="Arial" panose="020B0604020202020204" pitchFamily="34" charset="0"/>
                <a:cs typeface="Arial" panose="020B0604020202020204" pitchFamily="34" charset="0"/>
              </a:rPr>
              <a:t>quick_prompts.json</a:t>
            </a:r>
            <a:endParaRPr lang="en-IN" sz="1600" dirty="0">
              <a:latin typeface="Arial" panose="020B0604020202020204" pitchFamily="34" charset="0"/>
              <a:cs typeface="Arial" panose="020B0604020202020204" pitchFamily="34" charset="0"/>
            </a:endParaRPr>
          </a:p>
          <a:p>
            <a:pPr marL="342900" lvl="0" indent="-342900">
              <a:lnSpc>
                <a:spcPct val="162162"/>
              </a:lnSpc>
              <a:buClr>
                <a:srgbClr val="2B3541"/>
              </a:buClr>
              <a:buSzPts val="1850"/>
              <a:buFont typeface="Arial" panose="020B0604020202020204" pitchFamily="34" charset="0"/>
              <a:buChar char="•"/>
            </a:pPr>
            <a:r>
              <a:rPr lang="en-IN" sz="1600" dirty="0">
                <a:latin typeface="Arial" panose="020B0604020202020204" pitchFamily="34" charset="0"/>
                <a:cs typeface="Arial" panose="020B0604020202020204" pitchFamily="34" charset="0"/>
              </a:rPr>
              <a:t>system_prompt.txt</a:t>
            </a:r>
          </a:p>
          <a:p>
            <a:pPr marL="342900" lvl="0" indent="-342900">
              <a:lnSpc>
                <a:spcPct val="162162"/>
              </a:lnSpc>
              <a:buClr>
                <a:srgbClr val="2B3541"/>
              </a:buClr>
              <a:buSzPts val="1850"/>
              <a:buFont typeface="Arial" panose="020B0604020202020204" pitchFamily="34" charset="0"/>
              <a:buChar char="•"/>
            </a:pPr>
            <a:r>
              <a:rPr lang="en-IN" sz="1600" dirty="0">
                <a:latin typeface="Arial" panose="020B0604020202020204" pitchFamily="34" charset="0"/>
                <a:cs typeface="Arial" panose="020B0604020202020204" pitchFamily="34" charset="0"/>
              </a:rPr>
              <a:t>Indian_Recipes_Final_Combined.pdf</a:t>
            </a:r>
          </a:p>
          <a:p>
            <a:pPr marL="342900" lvl="0" indent="-342900">
              <a:lnSpc>
                <a:spcPct val="162162"/>
              </a:lnSpc>
              <a:buClr>
                <a:srgbClr val="2B3541"/>
              </a:buClr>
              <a:buSzPts val="1850"/>
              <a:buFont typeface="Arial" panose="020B0604020202020204" pitchFamily="34" charset="0"/>
              <a:buChar char="•"/>
            </a:pPr>
            <a:r>
              <a:rPr lang="en-IN" sz="1600" dirty="0">
                <a:latin typeface="Arial" panose="020B0604020202020204" pitchFamily="34" charset="0"/>
                <a:ea typeface="Times New Roman"/>
                <a:cs typeface="Arial" panose="020B0604020202020204" pitchFamily="34" charset="0"/>
                <a:sym typeface="Times New Roman"/>
              </a:rPr>
              <a:t>Indian_Cuisine_Recipe_Agent_Complete_Guide.docx</a:t>
            </a:r>
            <a:br>
              <a:rPr lang="en-IN" sz="1600" dirty="0">
                <a:latin typeface="Arial" panose="020B0604020202020204" pitchFamily="34" charset="0"/>
                <a:ea typeface="Times New Roman"/>
                <a:cs typeface="Arial" panose="020B0604020202020204" pitchFamily="34" charset="0"/>
                <a:sym typeface="Times New Roman"/>
              </a:rPr>
            </a:br>
            <a:endParaRPr lang="en-IN" sz="1600"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Nutritional Analysis Integration – </a:t>
            </a:r>
            <a:r>
              <a:rPr lang="en-US" sz="1600" dirty="0">
                <a:solidFill>
                  <a:schemeClr val="tx1"/>
                </a:solidFill>
                <a:latin typeface="Arial" panose="020B0604020202020204" pitchFamily="34" charset="0"/>
                <a:ea typeface="Calibri" pitchFamily="34" charset="-122"/>
                <a:cs typeface="Arial" panose="020B0604020202020204" pitchFamily="34" charset="0"/>
              </a:rPr>
              <a:t>Integrate nutritional databases (USDA / NIN India) to provide calorie counts, macronutrient breakdowns, and vitamin information for every recipe served by the agent.</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Multi-Language Support (Hindi, Tamil, Telugu) – </a:t>
            </a:r>
            <a:r>
              <a:rPr lang="en-US" sz="1600" dirty="0">
                <a:solidFill>
                  <a:schemeClr val="tx1"/>
                </a:solidFill>
                <a:latin typeface="Arial" panose="020B0604020202020204" pitchFamily="34" charset="0"/>
                <a:ea typeface="Calibri" pitchFamily="34" charset="-122"/>
                <a:cs typeface="Arial" panose="020B0604020202020204" pitchFamily="34" charset="0"/>
              </a:rPr>
              <a:t>Add regional language support so users can query Indian recipes in their native language. Improves accessibility across India and the global Indian diaspora.</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Voice-Enabled Cooking Assistant – </a:t>
            </a:r>
            <a:r>
              <a:rPr lang="en-US" sz="1600" dirty="0">
                <a:solidFill>
                  <a:schemeClr val="tx1"/>
                </a:solidFill>
                <a:latin typeface="Arial" panose="020B0604020202020204" pitchFamily="34" charset="0"/>
                <a:ea typeface="Calibri" pitchFamily="34" charset="-122"/>
                <a:cs typeface="Arial" panose="020B0604020202020204" pitchFamily="34" charset="0"/>
              </a:rPr>
              <a:t>Integrate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Voice Modality to allow hands-free recipe queries and step-by-step audio guidance while cooking — ideal for kitchen environments.</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Smart Ingredient Substitution Engine – </a:t>
            </a:r>
            <a:r>
              <a:rPr lang="en-US" sz="1600" dirty="0">
                <a:solidFill>
                  <a:schemeClr val="tx1"/>
                </a:solidFill>
                <a:latin typeface="Arial" panose="020B0604020202020204" pitchFamily="34" charset="0"/>
                <a:ea typeface="Calibri" pitchFamily="34" charset="-122"/>
                <a:cs typeface="Arial" panose="020B0604020202020204" pitchFamily="34" charset="0"/>
              </a:rPr>
              <a:t>Build an intelligent substitution layer that suggests locally available or allergy-safe alternatives for hard-to-find Indian spices and ingredients.</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Recipe Expansion &amp; Community Contributions – </a:t>
            </a:r>
            <a:r>
              <a:rPr lang="en-US" sz="1600" dirty="0">
                <a:solidFill>
                  <a:schemeClr val="tx1"/>
                </a:solidFill>
                <a:latin typeface="Arial" panose="020B0604020202020204" pitchFamily="34" charset="0"/>
                <a:ea typeface="Calibri" pitchFamily="34" charset="-122"/>
                <a:cs typeface="Arial" panose="020B0604020202020204" pitchFamily="34" charset="0"/>
              </a:rPr>
              <a:t>Scale the knowledge base beyond 20 recipes to include 200+ dishes from all 28 Indian states, incorporating community-sourced regional recipes with curation.</a:t>
            </a:r>
            <a:endParaRPr lang="en-US" sz="1600" dirty="0">
              <a:solidFill>
                <a:schemeClr val="tx1"/>
              </a:solidFill>
              <a:latin typeface="Arial" panose="020B0604020202020204" pitchFamily="34" charset="0"/>
              <a:cs typeface="Arial" panose="020B0604020202020204" pitchFamily="34" charset="0"/>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1436</TotalTime>
  <Words>1520</Words>
  <Application>Microsoft Office PowerPoint</Application>
  <PresentationFormat>Widescreen</PresentationFormat>
  <Paragraphs>168</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Siddhartha Raj Kotha</dc:creator>
  <cp:lastModifiedBy>Siddhartha Raj Kotha</cp:lastModifiedBy>
  <cp:revision>26</cp:revision>
  <dcterms:created xsi:type="dcterms:W3CDTF">2025-07-08T05:06:56Z</dcterms:created>
  <dcterms:modified xsi:type="dcterms:W3CDTF">2026-06-03T18:10:52Z</dcterms:modified>
</cp:coreProperties>
</file>